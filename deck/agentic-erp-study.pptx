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E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331720"/>
            <a:ext cx="10881360" cy="365760"/>
          </a:xfrm>
          <a:prstGeom prst="rect">
            <a:avLst/>
          </a:prstGeom>
          <a:noFill/>
        </p:spPr>
        <p:txBody>
          <a:bodyPr wrap="square" anchor="t" lIns="0" rIns="0" tIns="0" bIns="0">
            <a:spAutoFit/>
          </a:bodyPr>
          <a:lstStyle/>
          <a:p>
            <a:pPr algn="l">
              <a:lnSpc>
                <a:spcPct val="100000"/>
              </a:lnSpc>
              <a:spcAft>
                <a:spcPts val="0"/>
              </a:spcAft>
            </a:pPr>
            <a:r>
              <a:rPr sz="1300" b="1" i="0">
                <a:solidFill>
                  <a:srgbClr val="0E6B6B"/>
                </a:solidFill>
                <a:latin typeface="Helvetica Neue"/>
              </a:rPr>
              <a:t>A HANDS ON STUDY • JULY 2026</a:t>
            </a:r>
          </a:p>
        </p:txBody>
      </p:sp>
      <p:sp>
        <p:nvSpPr>
          <p:cNvPr id="4" name="TextBox 3"/>
          <p:cNvSpPr txBox="1"/>
          <p:nvPr/>
        </p:nvSpPr>
        <p:spPr>
          <a:xfrm>
            <a:off x="640080" y="2697480"/>
            <a:ext cx="10881360" cy="1737360"/>
          </a:xfrm>
          <a:prstGeom prst="rect">
            <a:avLst/>
          </a:prstGeom>
          <a:noFill/>
        </p:spPr>
        <p:txBody>
          <a:bodyPr wrap="square" anchor="t" lIns="0" rIns="0" tIns="0" bIns="0">
            <a:spAutoFit/>
          </a:bodyPr>
          <a:lstStyle/>
          <a:p>
            <a:pPr algn="l">
              <a:lnSpc>
                <a:spcPct val="105000"/>
              </a:lnSpc>
              <a:spcAft>
                <a:spcPts val="0"/>
              </a:spcAft>
            </a:pPr>
            <a:r>
              <a:rPr sz="4600" b="1" i="0">
                <a:solidFill>
                  <a:srgbClr val="0B142A"/>
                </a:solidFill>
                <a:latin typeface="Georgia"/>
              </a:rPr>
              <a:t>Can an AI agent operate an ERP?</a:t>
            </a:r>
          </a:p>
        </p:txBody>
      </p:sp>
      <p:sp>
        <p:nvSpPr>
          <p:cNvPr id="5" name="TextBox 4"/>
          <p:cNvSpPr txBox="1"/>
          <p:nvPr/>
        </p:nvSpPr>
        <p:spPr>
          <a:xfrm>
            <a:off x="640080" y="3977639"/>
            <a:ext cx="10058400" cy="640080"/>
          </a:xfrm>
          <a:prstGeom prst="rect">
            <a:avLst/>
          </a:prstGeom>
          <a:noFill/>
        </p:spPr>
        <p:txBody>
          <a:bodyPr wrap="square" anchor="t" lIns="0" rIns="0" tIns="0" bIns="0">
            <a:spAutoFit/>
          </a:bodyPr>
          <a:lstStyle/>
          <a:p>
            <a:pPr algn="l">
              <a:lnSpc>
                <a:spcPct val="100000"/>
              </a:lnSpc>
              <a:spcAft>
                <a:spcPts val="0"/>
              </a:spcAft>
            </a:pPr>
            <a:r>
              <a:rPr sz="1800" b="0" i="1">
                <a:solidFill>
                  <a:srgbClr val="6B7280"/>
                </a:solidFill>
                <a:latin typeface="Helvetica Neue"/>
              </a:rPr>
              <a:t>A hands on study against SAP's public APIs, July 2026</a:t>
            </a:r>
          </a:p>
        </p:txBody>
      </p:sp>
      <p:cxnSp>
        <p:nvCxnSpPr>
          <p:cNvPr id="6" name="Connector 5"/>
          <p:cNvCxnSpPr/>
          <p:nvPr/>
        </p:nvCxnSpPr>
        <p:spPr>
          <a:xfrm>
            <a:off x="640080" y="4846320"/>
            <a:ext cx="3840480" cy="0"/>
          </a:xfrm>
          <a:prstGeom prst="line">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6172200"/>
            <a:ext cx="8229600" cy="365760"/>
          </a:xfrm>
          <a:prstGeom prst="rect">
            <a:avLst/>
          </a:prstGeom>
          <a:noFill/>
        </p:spPr>
        <p:txBody>
          <a:bodyPr wrap="square" anchor="t" lIns="0" rIns="0" tIns="0" bIns="0">
            <a:spAutoFit/>
          </a:bodyPr>
          <a:lstStyle/>
          <a:p>
            <a:pPr algn="l">
              <a:lnSpc>
                <a:spcPct val="100000"/>
              </a:lnSpc>
              <a:spcAft>
                <a:spcPts val="0"/>
              </a:spcAft>
            </a:pPr>
            <a:r>
              <a:rPr sz="1350" b="1" i="0">
                <a:solidFill>
                  <a:srgbClr val="0B142A"/>
                </a:solidFill>
                <a:latin typeface="Helvetica Neue"/>
              </a:rPr>
              <a:t>github.com/asish-singh/agentic-erp-demo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7315200" cy="320040"/>
          </a:xfrm>
          <a:prstGeom prst="rect">
            <a:avLst/>
          </a:prstGeom>
          <a:noFill/>
        </p:spPr>
        <p:txBody>
          <a:bodyPr wrap="square" anchor="t" lIns="0" rIns="0" tIns="0" bIns="0">
            <a:spAutoFit/>
          </a:bodyPr>
          <a:lstStyle/>
          <a:p>
            <a:pPr algn="l">
              <a:lnSpc>
                <a:spcPct val="100000"/>
              </a:lnSpc>
              <a:spcAft>
                <a:spcPts val="0"/>
              </a:spcAft>
            </a:pPr>
            <a:r>
              <a:rPr sz="1250" b="1" i="0">
                <a:solidFill>
                  <a:srgbClr val="0E6B6B"/>
                </a:solidFill>
                <a:latin typeface="Helvetica Neue"/>
              </a:rPr>
              <a:t>WHY NOW</a:t>
            </a:r>
          </a:p>
        </p:txBody>
      </p:sp>
      <p:sp>
        <p:nvSpPr>
          <p:cNvPr id="3" name="TextBox 2"/>
          <p:cNvSpPr txBox="1"/>
          <p:nvPr/>
        </p:nvSpPr>
        <p:spPr>
          <a:xfrm>
            <a:off x="640080" y="749808"/>
            <a:ext cx="10881360" cy="822960"/>
          </a:xfrm>
          <a:prstGeom prst="rect">
            <a:avLst/>
          </a:prstGeom>
          <a:noFill/>
        </p:spPr>
        <p:txBody>
          <a:bodyPr wrap="square" anchor="t" lIns="0" rIns="0" tIns="0" bIns="0">
            <a:spAutoFit/>
          </a:bodyPr>
          <a:lstStyle/>
          <a:p>
            <a:pPr algn="l">
              <a:lnSpc>
                <a:spcPct val="100000"/>
              </a:lnSpc>
              <a:spcAft>
                <a:spcPts val="0"/>
              </a:spcAft>
            </a:pPr>
            <a:r>
              <a:rPr sz="3000" b="1" i="0">
                <a:solidFill>
                  <a:srgbClr val="0B142A"/>
                </a:solidFill>
                <a:latin typeface="Georgia"/>
              </a:rPr>
              <a:t>SAP is telling the market agents will run the enterprise</a:t>
            </a:r>
          </a:p>
        </p:txBody>
      </p:sp>
      <p:cxnSp>
        <p:nvCxnSpPr>
          <p:cNvPr id="4" name="Connector 3"/>
          <p:cNvCxnSpPr/>
          <p:nvPr/>
        </p:nvCxnSpPr>
        <p:spPr>
          <a:xfrm>
            <a:off x="640080" y="1481328"/>
            <a:ext cx="10911535" cy="0"/>
          </a:xfrm>
          <a:prstGeom prst="line">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828800"/>
            <a:ext cx="6309360" cy="2377440"/>
          </a:xfrm>
          <a:prstGeom prst="rect">
            <a:avLst/>
          </a:prstGeom>
          <a:noFill/>
        </p:spPr>
        <p:txBody>
          <a:bodyPr wrap="square" anchor="t" lIns="0" rIns="0" tIns="0" bIns="0">
            <a:spAutoFit/>
          </a:bodyPr>
          <a:lstStyle/>
          <a:p>
            <a:pPr algn="l">
              <a:lnSpc>
                <a:spcPct val="130000"/>
              </a:lnSpc>
              <a:spcAft>
                <a:spcPts val="0"/>
              </a:spcAft>
            </a:pPr>
            <a:r>
              <a:rPr sz="1600" b="0" i="0">
                <a:solidFill>
                  <a:srgbClr val="0B142A"/>
                </a:solidFill>
                <a:latin typeface="Helvetica Neue"/>
              </a:rPr>
              <a:t>In May 2026 SAP announced its Autonomous Enterprise push, more than 200 specialized agents planned across its product line. The pitch is simple. AI agents will operate enterprise software, not just assist the people who use it.</a:t>
            </a:r>
          </a:p>
        </p:txBody>
      </p:sp>
      <p:sp>
        <p:nvSpPr>
          <p:cNvPr id="6" name="TextBox 5"/>
          <p:cNvSpPr txBox="1"/>
          <p:nvPr/>
        </p:nvSpPr>
        <p:spPr>
          <a:xfrm>
            <a:off x="640080" y="3749039"/>
            <a:ext cx="6309360" cy="1737360"/>
          </a:xfrm>
          <a:prstGeom prst="rect">
            <a:avLst/>
          </a:prstGeom>
          <a:noFill/>
        </p:spPr>
        <p:txBody>
          <a:bodyPr wrap="square" anchor="t" lIns="0" rIns="0" tIns="0" bIns="0">
            <a:spAutoFit/>
          </a:bodyPr>
          <a:lstStyle/>
          <a:p>
            <a:pPr algn="l">
              <a:lnSpc>
                <a:spcPct val="130000"/>
              </a:lnSpc>
              <a:spcAft>
                <a:spcPts val="0"/>
              </a:spcAft>
            </a:pPr>
            <a:r>
              <a:rPr sz="1600" b="0" i="0">
                <a:solidFill>
                  <a:srgbClr val="0B142A"/>
                </a:solidFill>
                <a:latin typeface="Helvetica Neue"/>
              </a:rPr>
              <a:t>Nobody outside SAP has published what happens when an ordinary agent, with no special access, tries this against the public APIs every customer and partner can already reach. This study asks that question and shows its work.</a:t>
            </a:r>
          </a:p>
        </p:txBody>
      </p:sp>
      <p:sp>
        <p:nvSpPr>
          <p:cNvPr id="7" name="Rounded Rectangle 6"/>
          <p:cNvSpPr/>
          <p:nvPr/>
        </p:nvSpPr>
        <p:spPr>
          <a:xfrm>
            <a:off x="7635240" y="1874519"/>
            <a:ext cx="3886200" cy="3566160"/>
          </a:xfrm>
          <a:prstGeom prst="roundRect">
            <a:avLst>
              <a:gd name="adj" fmla="val 5000"/>
            </a:avLst>
          </a:prstGeom>
          <a:solidFill>
            <a:srgbClr val="E4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1000" y="2240280"/>
            <a:ext cx="3154680" cy="685800"/>
          </a:xfrm>
          <a:prstGeom prst="rect">
            <a:avLst/>
          </a:prstGeom>
          <a:noFill/>
        </p:spPr>
        <p:txBody>
          <a:bodyPr wrap="square" anchor="t" lIns="0" rIns="0" tIns="0" bIns="0">
            <a:spAutoFit/>
          </a:bodyPr>
          <a:lstStyle/>
          <a:p>
            <a:pPr algn="l">
              <a:lnSpc>
                <a:spcPct val="100000"/>
              </a:lnSpc>
              <a:spcAft>
                <a:spcPts val="0"/>
              </a:spcAft>
            </a:pPr>
            <a:r>
              <a:rPr sz="5200" b="1" i="0">
                <a:solidFill>
                  <a:srgbClr val="0E6B6B"/>
                </a:solidFill>
                <a:latin typeface="Georgia"/>
              </a:rPr>
              <a:t>200+</a:t>
            </a:r>
          </a:p>
        </p:txBody>
      </p:sp>
      <p:sp>
        <p:nvSpPr>
          <p:cNvPr id="9" name="TextBox 8"/>
          <p:cNvSpPr txBox="1"/>
          <p:nvPr/>
        </p:nvSpPr>
        <p:spPr>
          <a:xfrm>
            <a:off x="8001000" y="3018351"/>
            <a:ext cx="3154680" cy="548640"/>
          </a:xfrm>
          <a:prstGeom prst="rect">
            <a:avLst/>
          </a:prstGeom>
          <a:noFill/>
        </p:spPr>
        <p:txBody>
          <a:bodyPr wrap="square" anchor="t" lIns="0" rIns="0" tIns="0" bIns="0">
            <a:spAutoFit/>
          </a:bodyPr>
          <a:lstStyle/>
          <a:p>
            <a:pPr algn="l">
              <a:lnSpc>
                <a:spcPct val="115000"/>
              </a:lnSpc>
              <a:spcAft>
                <a:spcPts val="0"/>
              </a:spcAft>
            </a:pPr>
            <a:r>
              <a:rPr sz="1250" b="0" i="0">
                <a:solidFill>
                  <a:srgbClr val="6B7280"/>
                </a:solidFill>
                <a:latin typeface="Helvetica Neue"/>
              </a:rPr>
              <a:t>agents announced by SAP</a:t>
            </a:r>
          </a:p>
          <a:p>
            <a:pPr algn="l">
              <a:lnSpc>
                <a:spcPct val="115000"/>
              </a:lnSpc>
              <a:spcAft>
                <a:spcPts val="0"/>
              </a:spcAft>
            </a:pPr>
            <a:r>
              <a:rPr sz="1250" b="0" i="0">
                <a:solidFill>
                  <a:srgbClr val="6B7280"/>
                </a:solidFill>
                <a:latin typeface="Helvetica Neue"/>
              </a:rPr>
              <a:t>across its product line, May 2026</a:t>
            </a:r>
          </a:p>
        </p:txBody>
      </p:sp>
      <p:cxnSp>
        <p:nvCxnSpPr>
          <p:cNvPr id="10" name="Connector 9"/>
          <p:cNvCxnSpPr/>
          <p:nvPr/>
        </p:nvCxnSpPr>
        <p:spPr>
          <a:xfrm>
            <a:off x="8001000" y="3794760"/>
            <a:ext cx="3154680" cy="0"/>
          </a:xfrm>
          <a:prstGeom prst="line">
            <a:avLst/>
          </a:prstGeom>
          <a:ln w="12700">
            <a:solidFill>
              <a:srgbClr val="C7DAD9"/>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8001000" y="3977639"/>
            <a:ext cx="3154680" cy="1188720"/>
          </a:xfrm>
          <a:prstGeom prst="rect">
            <a:avLst/>
          </a:prstGeom>
          <a:noFill/>
        </p:spPr>
        <p:txBody>
          <a:bodyPr wrap="square" anchor="t" lIns="0" rIns="0" tIns="0" bIns="0">
            <a:spAutoFit/>
          </a:bodyPr>
          <a:lstStyle/>
          <a:p>
            <a:pPr algn="l">
              <a:lnSpc>
                <a:spcPct val="125000"/>
              </a:lnSpc>
              <a:spcAft>
                <a:spcPts val="0"/>
              </a:spcAft>
            </a:pPr>
            <a:r>
              <a:rPr sz="1400" b="0" i="0">
                <a:solidFill>
                  <a:srgbClr val="0B142A"/>
                </a:solidFill>
                <a:latin typeface="Helvetica Neue"/>
              </a:rPr>
              <a:t>The question this study tests</a:t>
            </a:r>
          </a:p>
          <a:p>
            <a:pPr algn="l">
              <a:lnSpc>
                <a:spcPct val="125000"/>
              </a:lnSpc>
              <a:spcAft>
                <a:spcPts val="0"/>
              </a:spcAft>
            </a:pPr>
            <a:r>
              <a:rPr sz="1400" b="0" i="0">
                <a:solidFill>
                  <a:srgbClr val="0B142A"/>
                </a:solidFill>
                <a:latin typeface="Helvetica Neue"/>
              </a:rPr>
              <a:t>is narrower and it is not</a:t>
            </a:r>
          </a:p>
          <a:p>
            <a:pPr algn="l">
              <a:lnSpc>
                <a:spcPct val="125000"/>
              </a:lnSpc>
              <a:spcAft>
                <a:spcPts val="0"/>
              </a:spcAft>
            </a:pPr>
            <a:r>
              <a:rPr sz="1400" b="0" i="0">
                <a:solidFill>
                  <a:srgbClr val="0B142A"/>
                </a:solidFill>
                <a:latin typeface="Helvetica Neue"/>
              </a:rPr>
              <a:t>currently answered in public</a:t>
            </a:r>
          </a:p>
        </p:txBody>
      </p:sp>
      <p:sp>
        <p:nvSpPr>
          <p:cNvPr id="12" name="TextBox 11"/>
          <p:cNvSpPr txBox="1"/>
          <p:nvPr/>
        </p:nvSpPr>
        <p:spPr>
          <a:xfrm>
            <a:off x="640080" y="6492240"/>
            <a:ext cx="5486400" cy="274320"/>
          </a:xfrm>
          <a:prstGeom prst="rect">
            <a:avLst/>
          </a:prstGeom>
          <a:noFill/>
        </p:spPr>
        <p:txBody>
          <a:bodyPr wrap="square" anchor="t" lIns="0" rIns="0" tIns="0" bIns="0">
            <a:spAutoFit/>
          </a:bodyPr>
          <a:lstStyle/>
          <a:p>
            <a:pPr algn="l">
              <a:lnSpc>
                <a:spcPct val="100000"/>
              </a:lnSpc>
              <a:spcAft>
                <a:spcPts val="0"/>
              </a:spcAft>
            </a:pPr>
            <a:r>
              <a:rPr sz="950" b="0" i="0">
                <a:solidFill>
                  <a:srgbClr val="6B7280"/>
                </a:solidFill>
                <a:latin typeface="Helvetica Neue"/>
              </a:rPr>
              <a:t>Can an AI agent operate an ERP? — July 2026 study</a:t>
            </a:r>
          </a:p>
        </p:txBody>
      </p:sp>
      <p:sp>
        <p:nvSpPr>
          <p:cNvPr id="13" name="TextBox 12"/>
          <p:cNvSpPr txBox="1"/>
          <p:nvPr/>
        </p:nvSpPr>
        <p:spPr>
          <a:xfrm>
            <a:off x="10180015" y="6492240"/>
            <a:ext cx="1371600" cy="274320"/>
          </a:xfrm>
          <a:prstGeom prst="rect">
            <a:avLst/>
          </a:prstGeom>
          <a:noFill/>
        </p:spPr>
        <p:txBody>
          <a:bodyPr wrap="square" anchor="t" lIns="0" rIns="0" tIns="0" bIns="0">
            <a:spAutoFit/>
          </a:bodyPr>
          <a:lstStyle/>
          <a:p>
            <a:pPr algn="r">
              <a:lnSpc>
                <a:spcPct val="100000"/>
              </a:lnSpc>
              <a:spcAft>
                <a:spcPts val="0"/>
              </a:spcAft>
            </a:pPr>
            <a:r>
              <a:rPr sz="950" b="0" i="0">
                <a:solidFill>
                  <a:srgbClr val="6B7280"/>
                </a:solidFill>
                <a:latin typeface="Helvetica Neue"/>
              </a:rPr>
              <a:t>02 / 11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7315200" cy="320040"/>
          </a:xfrm>
          <a:prstGeom prst="rect">
            <a:avLst/>
          </a:prstGeom>
          <a:noFill/>
        </p:spPr>
        <p:txBody>
          <a:bodyPr wrap="square" anchor="t" lIns="0" rIns="0" tIns="0" bIns="0">
            <a:spAutoFit/>
          </a:bodyPr>
          <a:lstStyle/>
          <a:p>
            <a:pPr algn="l">
              <a:lnSpc>
                <a:spcPct val="100000"/>
              </a:lnSpc>
              <a:spcAft>
                <a:spcPts val="0"/>
              </a:spcAft>
            </a:pPr>
            <a:r>
              <a:rPr sz="1250" b="1" i="0">
                <a:solidFill>
                  <a:srgbClr val="0E6B6B"/>
                </a:solidFill>
                <a:latin typeface="Helvetica Neue"/>
              </a:rPr>
              <a:t>METHOD</a:t>
            </a:r>
          </a:p>
        </p:txBody>
      </p:sp>
      <p:sp>
        <p:nvSpPr>
          <p:cNvPr id="3" name="TextBox 2"/>
          <p:cNvSpPr txBox="1"/>
          <p:nvPr/>
        </p:nvSpPr>
        <p:spPr>
          <a:xfrm>
            <a:off x="640080" y="749808"/>
            <a:ext cx="10881360" cy="822960"/>
          </a:xfrm>
          <a:prstGeom prst="rect">
            <a:avLst/>
          </a:prstGeom>
          <a:noFill/>
        </p:spPr>
        <p:txBody>
          <a:bodyPr wrap="square" anchor="t" lIns="0" rIns="0" tIns="0" bIns="0">
            <a:spAutoFit/>
          </a:bodyPr>
          <a:lstStyle/>
          <a:p>
            <a:pPr algn="l">
              <a:lnSpc>
                <a:spcPct val="100000"/>
              </a:lnSpc>
              <a:spcAft>
                <a:spcPts val="0"/>
              </a:spcAft>
            </a:pPr>
            <a:r>
              <a:rPr sz="3000" b="1" i="0">
                <a:solidFill>
                  <a:srgbClr val="0B142A"/>
                </a:solidFill>
                <a:latin typeface="Georgia"/>
              </a:rPr>
              <a:t>One agent loop, a free model, SAP's public sandbox</a:t>
            </a:r>
          </a:p>
        </p:txBody>
      </p:sp>
      <p:cxnSp>
        <p:nvCxnSpPr>
          <p:cNvPr id="4" name="Connector 3"/>
          <p:cNvCxnSpPr/>
          <p:nvPr/>
        </p:nvCxnSpPr>
        <p:spPr>
          <a:xfrm>
            <a:off x="640080" y="1481328"/>
            <a:ext cx="10911535" cy="0"/>
          </a:xfrm>
          <a:prstGeom prst="line">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640080" y="1965960"/>
            <a:ext cx="2331720" cy="960120"/>
          </a:xfrm>
          <a:prstGeom prst="roundRect">
            <a:avLst>
              <a:gd name="adj" fmla="val 8000"/>
            </a:avLst>
          </a:prstGeom>
          <a:solidFill>
            <a:srgbClr val="FFFFFF"/>
          </a:solidFill>
          <a:ln w="15875">
            <a:solidFill>
              <a:srgbClr val="0B14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075688"/>
            <a:ext cx="2331720" cy="320040"/>
          </a:xfrm>
          <a:prstGeom prst="rect">
            <a:avLst/>
          </a:prstGeom>
          <a:noFill/>
        </p:spPr>
        <p:txBody>
          <a:bodyPr wrap="square" anchor="t" lIns="0" rIns="0" tIns="0" bIns="0">
            <a:spAutoFit/>
          </a:bodyPr>
          <a:lstStyle/>
          <a:p>
            <a:pPr algn="ctr">
              <a:lnSpc>
                <a:spcPct val="100000"/>
              </a:lnSpc>
              <a:spcAft>
                <a:spcPts val="0"/>
              </a:spcAft>
            </a:pPr>
            <a:r>
              <a:rPr sz="1150" b="0" i="0">
                <a:solidFill>
                  <a:srgbClr val="6B7280"/>
                </a:solidFill>
                <a:latin typeface="Helvetica Neue"/>
              </a:rPr>
              <a:t>Plain language</a:t>
            </a:r>
          </a:p>
        </p:txBody>
      </p:sp>
      <p:sp>
        <p:nvSpPr>
          <p:cNvPr id="7" name="TextBox 6"/>
          <p:cNvSpPr txBox="1"/>
          <p:nvPr/>
        </p:nvSpPr>
        <p:spPr>
          <a:xfrm>
            <a:off x="640080" y="2350008"/>
            <a:ext cx="2331720" cy="457200"/>
          </a:xfrm>
          <a:prstGeom prst="rect">
            <a:avLst/>
          </a:prstGeom>
          <a:noFill/>
        </p:spPr>
        <p:txBody>
          <a:bodyPr wrap="square" anchor="t" lIns="0" rIns="0" tIns="0" bIns="0">
            <a:spAutoFit/>
          </a:bodyPr>
          <a:lstStyle/>
          <a:p>
            <a:pPr algn="ctr">
              <a:lnSpc>
                <a:spcPct val="100000"/>
              </a:lnSpc>
              <a:spcAft>
                <a:spcPts val="0"/>
              </a:spcAft>
            </a:pPr>
            <a:r>
              <a:rPr sz="1650" b="1" i="0">
                <a:solidFill>
                  <a:srgbClr val="0B142A"/>
                </a:solidFill>
                <a:latin typeface="Georgia"/>
              </a:rPr>
              <a:t>Instruction</a:t>
            </a:r>
          </a:p>
        </p:txBody>
      </p:sp>
      <p:sp>
        <p:nvSpPr>
          <p:cNvPr id="8" name="Rounded Rectangle 7"/>
          <p:cNvSpPr/>
          <p:nvPr/>
        </p:nvSpPr>
        <p:spPr>
          <a:xfrm>
            <a:off x="3474720" y="1965960"/>
            <a:ext cx="2331720" cy="960120"/>
          </a:xfrm>
          <a:prstGeom prst="roundRect">
            <a:avLst>
              <a:gd name="adj" fmla="val 8000"/>
            </a:avLst>
          </a:prstGeom>
          <a:solidFill>
            <a:srgbClr val="0E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4720" y="2057400"/>
            <a:ext cx="2331720" cy="274320"/>
          </a:xfrm>
          <a:prstGeom prst="rect">
            <a:avLst/>
          </a:prstGeom>
          <a:noFill/>
        </p:spPr>
        <p:txBody>
          <a:bodyPr wrap="square" anchor="t" lIns="0" rIns="0" tIns="0" bIns="0">
            <a:spAutoFit/>
          </a:bodyPr>
          <a:lstStyle/>
          <a:p>
            <a:pPr algn="ctr">
              <a:lnSpc>
                <a:spcPct val="100000"/>
              </a:lnSpc>
              <a:spcAft>
                <a:spcPts val="0"/>
              </a:spcAft>
            </a:pPr>
            <a:r>
              <a:rPr sz="1050" b="0" i="0">
                <a:solidFill>
                  <a:srgbClr val="E6F3F2"/>
                </a:solidFill>
                <a:latin typeface="Helvetica Neue"/>
              </a:rPr>
              <a:t>Agent loop • 4 tools • 15 turns max</a:t>
            </a:r>
          </a:p>
        </p:txBody>
      </p:sp>
      <p:sp>
        <p:nvSpPr>
          <p:cNvPr id="10" name="TextBox 9"/>
          <p:cNvSpPr txBox="1"/>
          <p:nvPr/>
        </p:nvSpPr>
        <p:spPr>
          <a:xfrm>
            <a:off x="3474720" y="2331720"/>
            <a:ext cx="2331720" cy="457200"/>
          </a:xfrm>
          <a:prstGeom prst="rect">
            <a:avLst/>
          </a:prstGeom>
          <a:noFill/>
        </p:spPr>
        <p:txBody>
          <a:bodyPr wrap="square" anchor="t" lIns="0" rIns="0" tIns="0" bIns="0">
            <a:spAutoFit/>
          </a:bodyPr>
          <a:lstStyle/>
          <a:p>
            <a:pPr algn="ctr">
              <a:lnSpc>
                <a:spcPct val="100000"/>
              </a:lnSpc>
              <a:spcAft>
                <a:spcPts val="0"/>
              </a:spcAft>
            </a:pPr>
            <a:r>
              <a:rPr sz="1650" b="1" i="0">
                <a:solidFill>
                  <a:srgbClr val="FFFFFF"/>
                </a:solidFill>
                <a:latin typeface="Georgia"/>
              </a:rPr>
              <a:t>GPT-4o mini</a:t>
            </a:r>
          </a:p>
        </p:txBody>
      </p:sp>
      <p:sp>
        <p:nvSpPr>
          <p:cNvPr id="11" name="Rounded Rectangle 10"/>
          <p:cNvSpPr/>
          <p:nvPr/>
        </p:nvSpPr>
        <p:spPr>
          <a:xfrm>
            <a:off x="6309360" y="1965960"/>
            <a:ext cx="2331720" cy="960120"/>
          </a:xfrm>
          <a:prstGeom prst="roundRect">
            <a:avLst>
              <a:gd name="adj" fmla="val 8000"/>
            </a:avLst>
          </a:prstGeom>
          <a:solidFill>
            <a:srgbClr val="FFFFFF"/>
          </a:solidFill>
          <a:ln w="15875">
            <a:solidFill>
              <a:srgbClr val="0B14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2075688"/>
            <a:ext cx="2331720" cy="320040"/>
          </a:xfrm>
          <a:prstGeom prst="rect">
            <a:avLst/>
          </a:prstGeom>
          <a:noFill/>
        </p:spPr>
        <p:txBody>
          <a:bodyPr wrap="square" anchor="t" lIns="0" rIns="0" tIns="0" bIns="0">
            <a:spAutoFit/>
          </a:bodyPr>
          <a:lstStyle/>
          <a:p>
            <a:pPr algn="ctr">
              <a:lnSpc>
                <a:spcPct val="100000"/>
              </a:lnSpc>
              <a:spcAft>
                <a:spcPts val="0"/>
              </a:spcAft>
            </a:pPr>
            <a:r>
              <a:rPr sz="1150" b="0" i="0">
                <a:solidFill>
                  <a:srgbClr val="6B7280"/>
                </a:solidFill>
                <a:latin typeface="Helvetica Neue"/>
              </a:rPr>
              <a:t>S/4HANA Cloud</a:t>
            </a:r>
          </a:p>
        </p:txBody>
      </p:sp>
      <p:sp>
        <p:nvSpPr>
          <p:cNvPr id="13" name="TextBox 12"/>
          <p:cNvSpPr txBox="1"/>
          <p:nvPr/>
        </p:nvSpPr>
        <p:spPr>
          <a:xfrm>
            <a:off x="6309360" y="2350008"/>
            <a:ext cx="2331720" cy="457200"/>
          </a:xfrm>
          <a:prstGeom prst="rect">
            <a:avLst/>
          </a:prstGeom>
          <a:noFill/>
        </p:spPr>
        <p:txBody>
          <a:bodyPr wrap="square" anchor="t" lIns="0" rIns="0" tIns="0" bIns="0">
            <a:spAutoFit/>
          </a:bodyPr>
          <a:lstStyle/>
          <a:p>
            <a:pPr algn="ctr">
              <a:lnSpc>
                <a:spcPct val="100000"/>
              </a:lnSpc>
              <a:spcAft>
                <a:spcPts val="0"/>
              </a:spcAft>
            </a:pPr>
            <a:r>
              <a:rPr sz="1650" b="1" i="0">
                <a:solidFill>
                  <a:srgbClr val="0B142A"/>
                </a:solidFill>
                <a:latin typeface="Georgia"/>
              </a:rPr>
              <a:t>SAP sandbox APIs</a:t>
            </a:r>
          </a:p>
        </p:txBody>
      </p:sp>
      <p:cxnSp>
        <p:nvCxnSpPr>
          <p:cNvPr id="14" name="Connector 13"/>
          <p:cNvCxnSpPr/>
          <p:nvPr/>
        </p:nvCxnSpPr>
        <p:spPr>
          <a:xfrm>
            <a:off x="2971800" y="2446020.0"/>
            <a:ext cx="502920" cy="0.0"/>
          </a:xfrm>
          <a:prstGeom prst="line">
            <a:avLst/>
          </a:prstGeom>
          <a:ln w="19050">
            <a:solidFill>
              <a:srgbClr val="0E6B6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806440" y="2446020.0"/>
            <a:ext cx="502920" cy="0.0"/>
          </a:xfrm>
          <a:prstGeom prst="line">
            <a:avLst/>
          </a:prstGeom>
          <a:ln w="19050">
            <a:solidFill>
              <a:srgbClr val="0E6B6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474720" y="3182112"/>
            <a:ext cx="2331720" cy="1188720"/>
          </a:xfrm>
          <a:prstGeom prst="rect">
            <a:avLst/>
          </a:prstGeom>
          <a:noFill/>
        </p:spPr>
        <p:txBody>
          <a:bodyPr wrap="square" anchor="t" lIns="0" rIns="0" tIns="0" bIns="0">
            <a:spAutoFit/>
          </a:bodyPr>
          <a:lstStyle/>
          <a:p>
            <a:pPr algn="ctr">
              <a:lnSpc>
                <a:spcPct val="135000"/>
              </a:lnSpc>
              <a:spcAft>
                <a:spcPts val="0"/>
              </a:spcAft>
            </a:pPr>
            <a:r>
              <a:rPr sz="1250" b="0" i="0">
                <a:solidFill>
                  <a:srgbClr val="0B142A"/>
                </a:solidFill>
                <a:latin typeface="Helvetica Neue"/>
              </a:rPr>
              <a:t>list services</a:t>
            </a:r>
          </a:p>
          <a:p>
            <a:pPr algn="ctr">
              <a:lnSpc>
                <a:spcPct val="135000"/>
              </a:lnSpc>
              <a:spcAft>
                <a:spcPts val="0"/>
              </a:spcAft>
            </a:pPr>
            <a:r>
              <a:rPr sz="1250" b="0" i="0">
                <a:solidFill>
                  <a:srgbClr val="0B142A"/>
                </a:solidFill>
                <a:latin typeface="Helvetica Neue"/>
              </a:rPr>
              <a:t>read from an API</a:t>
            </a:r>
          </a:p>
          <a:p>
            <a:pPr algn="ctr">
              <a:lnSpc>
                <a:spcPct val="135000"/>
              </a:lnSpc>
              <a:spcAft>
                <a:spcPts val="0"/>
              </a:spcAft>
            </a:pPr>
            <a:r>
              <a:rPr sz="1250" b="0" i="0">
                <a:solidFill>
                  <a:srgbClr val="0B142A"/>
                </a:solidFill>
                <a:latin typeface="Helvetica Neue"/>
              </a:rPr>
              <a:t>write to an API</a:t>
            </a:r>
          </a:p>
          <a:p>
            <a:pPr algn="ctr">
              <a:lnSpc>
                <a:spcPct val="135000"/>
              </a:lnSpc>
              <a:spcAft>
                <a:spcPts val="0"/>
              </a:spcAft>
            </a:pPr>
            <a:r>
              <a:rPr sz="1250" b="0" i="0">
                <a:solidFill>
                  <a:srgbClr val="0B142A"/>
                </a:solidFill>
                <a:latin typeface="Helvetica Neue"/>
              </a:rPr>
              <a:t>finish</a:t>
            </a:r>
          </a:p>
        </p:txBody>
      </p:sp>
      <p:cxnSp>
        <p:nvCxnSpPr>
          <p:cNvPr id="17" name="Connector 16"/>
          <p:cNvCxnSpPr/>
          <p:nvPr/>
        </p:nvCxnSpPr>
        <p:spPr>
          <a:xfrm>
            <a:off x="640080" y="4526280"/>
            <a:ext cx="8001000" cy="0"/>
          </a:xfrm>
          <a:prstGeom prst="line">
            <a:avLst/>
          </a:prstGeom>
          <a:ln w="12700">
            <a:solidFill>
              <a:srgbClr val="0B142A"/>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0080" y="4636008"/>
            <a:ext cx="8001000" cy="365760"/>
          </a:xfrm>
          <a:prstGeom prst="rect">
            <a:avLst/>
          </a:prstGeom>
          <a:noFill/>
        </p:spPr>
        <p:txBody>
          <a:bodyPr wrap="square" anchor="t" lIns="0" rIns="0" tIns="0" bIns="0">
            <a:spAutoFit/>
          </a:bodyPr>
          <a:lstStyle/>
          <a:p>
            <a:pPr algn="ctr">
              <a:lnSpc>
                <a:spcPct val="100000"/>
              </a:lnSpc>
              <a:spcAft>
                <a:spcPts val="0"/>
              </a:spcAft>
            </a:pPr>
            <a:r>
              <a:rPr sz="1300" b="0" i="1">
                <a:solidFill>
                  <a:srgbClr val="0B142A"/>
                </a:solidFill>
                <a:latin typeface="Helvetica Neue"/>
              </a:rPr>
              <a:t>Every model response and every API call logged in full to JSONL</a:t>
            </a:r>
          </a:p>
        </p:txBody>
      </p:sp>
      <p:sp>
        <p:nvSpPr>
          <p:cNvPr id="19" name="Rounded Rectangle 18"/>
          <p:cNvSpPr/>
          <p:nvPr/>
        </p:nvSpPr>
        <p:spPr>
          <a:xfrm>
            <a:off x="640080" y="5486400"/>
            <a:ext cx="10911535" cy="777240"/>
          </a:xfrm>
          <a:prstGeom prst="roundRect">
            <a:avLst>
              <a:gd name="adj" fmla="val 12000"/>
            </a:avLst>
          </a:prstGeom>
          <a:solidFill>
            <a:srgbClr val="E4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614416"/>
            <a:ext cx="2011680" cy="502920"/>
          </a:xfrm>
          <a:prstGeom prst="rect">
            <a:avLst/>
          </a:prstGeom>
          <a:noFill/>
        </p:spPr>
        <p:txBody>
          <a:bodyPr wrap="square" anchor="ctr" lIns="0" rIns="0" tIns="0" bIns="0">
            <a:spAutoFit/>
          </a:bodyPr>
          <a:lstStyle/>
          <a:p>
            <a:pPr algn="l">
              <a:lnSpc>
                <a:spcPct val="100000"/>
              </a:lnSpc>
              <a:spcAft>
                <a:spcPts val="0"/>
              </a:spcAft>
            </a:pPr>
            <a:r>
              <a:rPr sz="1400" b="1" i="0">
                <a:solidFill>
                  <a:srgbClr val="0E6B6B"/>
                </a:solidFill>
                <a:latin typeface="Helvetica Neue"/>
              </a:rPr>
              <a:t>Zero cost stack</a:t>
            </a:r>
          </a:p>
        </p:txBody>
      </p:sp>
      <p:sp>
        <p:nvSpPr>
          <p:cNvPr id="21" name="TextBox 20"/>
          <p:cNvSpPr txBox="1"/>
          <p:nvPr/>
        </p:nvSpPr>
        <p:spPr>
          <a:xfrm>
            <a:off x="3108960" y="5614416"/>
            <a:ext cx="8961120" cy="502920"/>
          </a:xfrm>
          <a:prstGeom prst="rect">
            <a:avLst/>
          </a:prstGeom>
          <a:noFill/>
        </p:spPr>
        <p:txBody>
          <a:bodyPr wrap="square" anchor="ctr" lIns="0" rIns="0" tIns="0" bIns="0">
            <a:spAutoFit/>
          </a:bodyPr>
          <a:lstStyle/>
          <a:p>
            <a:pPr algn="l">
              <a:lnSpc>
                <a:spcPct val="100000"/>
              </a:lnSpc>
              <a:spcAft>
                <a:spcPts val="0"/>
              </a:spcAft>
            </a:pPr>
            <a:r>
              <a:rPr sz="1400" b="0" i="0">
                <a:solidFill>
                  <a:srgbClr val="0B142A"/>
                </a:solidFill>
                <a:latin typeface="Helvetica Neue"/>
              </a:rPr>
              <a:t>Free model tier, free SAP sandbox key, runner executes locally or in GitHub Actions</a:t>
            </a:r>
          </a:p>
        </p:txBody>
      </p:sp>
      <p:sp>
        <p:nvSpPr>
          <p:cNvPr id="22" name="TextBox 21"/>
          <p:cNvSpPr txBox="1"/>
          <p:nvPr/>
        </p:nvSpPr>
        <p:spPr>
          <a:xfrm>
            <a:off x="640080" y="6492240"/>
            <a:ext cx="5486400" cy="274320"/>
          </a:xfrm>
          <a:prstGeom prst="rect">
            <a:avLst/>
          </a:prstGeom>
          <a:noFill/>
        </p:spPr>
        <p:txBody>
          <a:bodyPr wrap="square" anchor="t" lIns="0" rIns="0" tIns="0" bIns="0">
            <a:spAutoFit/>
          </a:bodyPr>
          <a:lstStyle/>
          <a:p>
            <a:pPr algn="l">
              <a:lnSpc>
                <a:spcPct val="100000"/>
              </a:lnSpc>
              <a:spcAft>
                <a:spcPts val="0"/>
              </a:spcAft>
            </a:pPr>
            <a:r>
              <a:rPr sz="950" b="0" i="0">
                <a:solidFill>
                  <a:srgbClr val="6B7280"/>
                </a:solidFill>
                <a:latin typeface="Helvetica Neue"/>
              </a:rPr>
              <a:t>Can an AI agent operate an ERP? — July 2026 study</a:t>
            </a:r>
          </a:p>
        </p:txBody>
      </p:sp>
      <p:sp>
        <p:nvSpPr>
          <p:cNvPr id="23" name="TextBox 22"/>
          <p:cNvSpPr txBox="1"/>
          <p:nvPr/>
        </p:nvSpPr>
        <p:spPr>
          <a:xfrm>
            <a:off x="10180015" y="6492240"/>
            <a:ext cx="1371600" cy="274320"/>
          </a:xfrm>
          <a:prstGeom prst="rect">
            <a:avLst/>
          </a:prstGeom>
          <a:noFill/>
        </p:spPr>
        <p:txBody>
          <a:bodyPr wrap="square" anchor="t" lIns="0" rIns="0" tIns="0" bIns="0">
            <a:spAutoFit/>
          </a:bodyPr>
          <a:lstStyle/>
          <a:p>
            <a:pPr algn="r">
              <a:lnSpc>
                <a:spcPct val="100000"/>
              </a:lnSpc>
              <a:spcAft>
                <a:spcPts val="0"/>
              </a:spcAft>
            </a:pPr>
            <a:r>
              <a:rPr sz="950" b="0" i="0">
                <a:solidFill>
                  <a:srgbClr val="6B7280"/>
                </a:solidFill>
                <a:latin typeface="Helvetica Neue"/>
              </a:rPr>
              <a:t>03 / 11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7315200" cy="320040"/>
          </a:xfrm>
          <a:prstGeom prst="rect">
            <a:avLst/>
          </a:prstGeom>
          <a:noFill/>
        </p:spPr>
        <p:txBody>
          <a:bodyPr wrap="square" anchor="t" lIns="0" rIns="0" tIns="0" bIns="0">
            <a:spAutoFit/>
          </a:bodyPr>
          <a:lstStyle/>
          <a:p>
            <a:pPr algn="l">
              <a:lnSpc>
                <a:spcPct val="100000"/>
              </a:lnSpc>
              <a:spcAft>
                <a:spcPts val="0"/>
              </a:spcAft>
            </a:pPr>
            <a:r>
              <a:rPr sz="1250" b="1" i="0">
                <a:solidFill>
                  <a:srgbClr val="0E6B6B"/>
                </a:solidFill>
                <a:latin typeface="Helvetica Neue"/>
              </a:rPr>
              <a:t>THE TASKS</a:t>
            </a:r>
          </a:p>
        </p:txBody>
      </p:sp>
      <p:sp>
        <p:nvSpPr>
          <p:cNvPr id="3" name="TextBox 2"/>
          <p:cNvSpPr txBox="1"/>
          <p:nvPr/>
        </p:nvSpPr>
        <p:spPr>
          <a:xfrm>
            <a:off x="640080" y="749808"/>
            <a:ext cx="10881360" cy="822960"/>
          </a:xfrm>
          <a:prstGeom prst="rect">
            <a:avLst/>
          </a:prstGeom>
          <a:noFill/>
        </p:spPr>
        <p:txBody>
          <a:bodyPr wrap="square" anchor="t" lIns="0" rIns="0" tIns="0" bIns="0">
            <a:spAutoFit/>
          </a:bodyPr>
          <a:lstStyle/>
          <a:p>
            <a:pPr algn="l">
              <a:lnSpc>
                <a:spcPct val="100000"/>
              </a:lnSpc>
              <a:spcAft>
                <a:spcPts val="0"/>
              </a:spcAft>
            </a:pPr>
            <a:r>
              <a:rPr sz="3000" b="1" i="0">
                <a:solidFill>
                  <a:srgbClr val="0B142A"/>
                </a:solidFill>
                <a:latin typeface="Georgia"/>
              </a:rPr>
              <a:t>Five ordinary shapes of ERP work</a:t>
            </a:r>
          </a:p>
        </p:txBody>
      </p:sp>
      <p:cxnSp>
        <p:nvCxnSpPr>
          <p:cNvPr id="4" name="Connector 3"/>
          <p:cNvCxnSpPr/>
          <p:nvPr/>
        </p:nvCxnSpPr>
        <p:spPr>
          <a:xfrm>
            <a:off x="640080" y="1481328"/>
            <a:ext cx="10911535" cy="0"/>
          </a:xfrm>
          <a:prstGeom prst="line">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2093976"/>
            <a:ext cx="822960" cy="548640"/>
          </a:xfrm>
          <a:prstGeom prst="rect">
            <a:avLst/>
          </a:prstGeom>
          <a:noFill/>
        </p:spPr>
        <p:txBody>
          <a:bodyPr wrap="square" anchor="t" lIns="0" rIns="0" tIns="0" bIns="0">
            <a:spAutoFit/>
          </a:bodyPr>
          <a:lstStyle/>
          <a:p>
            <a:pPr algn="l">
              <a:lnSpc>
                <a:spcPct val="100000"/>
              </a:lnSpc>
              <a:spcAft>
                <a:spcPts val="0"/>
              </a:spcAft>
            </a:pPr>
            <a:r>
              <a:rPr sz="2200" b="1" i="0">
                <a:solidFill>
                  <a:srgbClr val="0E6B6B"/>
                </a:solidFill>
                <a:latin typeface="Georgia"/>
              </a:rPr>
              <a:t>01</a:t>
            </a:r>
          </a:p>
        </p:txBody>
      </p:sp>
      <p:sp>
        <p:nvSpPr>
          <p:cNvPr id="6" name="TextBox 5"/>
          <p:cNvSpPr txBox="1"/>
          <p:nvPr/>
        </p:nvSpPr>
        <p:spPr>
          <a:xfrm>
            <a:off x="1600200" y="2057400"/>
            <a:ext cx="3566160" cy="640080"/>
          </a:xfrm>
          <a:prstGeom prst="rect">
            <a:avLst/>
          </a:prstGeom>
          <a:noFill/>
        </p:spPr>
        <p:txBody>
          <a:bodyPr wrap="square" anchor="t" lIns="0" rIns="0" tIns="0" bIns="0">
            <a:spAutoFit/>
          </a:bodyPr>
          <a:lstStyle/>
          <a:p>
            <a:pPr algn="l">
              <a:lnSpc>
                <a:spcPct val="110000"/>
              </a:lnSpc>
              <a:spcAft>
                <a:spcPts val="0"/>
              </a:spcAft>
            </a:pPr>
            <a:r>
              <a:rPr sz="1550" b="1" i="0">
                <a:solidFill>
                  <a:srgbClr val="0B142A"/>
                </a:solidFill>
                <a:latin typeface="Helvetica Neue"/>
              </a:rPr>
              <a:t>Find a master data record</a:t>
            </a:r>
          </a:p>
        </p:txBody>
      </p:sp>
      <p:sp>
        <p:nvSpPr>
          <p:cNvPr id="7" name="TextBox 6"/>
          <p:cNvSpPr txBox="1"/>
          <p:nvPr/>
        </p:nvSpPr>
        <p:spPr>
          <a:xfrm>
            <a:off x="5349240" y="2057400"/>
            <a:ext cx="6309360" cy="640080"/>
          </a:xfrm>
          <a:prstGeom prst="rect">
            <a:avLst/>
          </a:prstGeom>
          <a:noFill/>
        </p:spPr>
        <p:txBody>
          <a:bodyPr wrap="square" anchor="t" lIns="0" rIns="0" tIns="0" bIns="0">
            <a:spAutoFit/>
          </a:bodyPr>
          <a:lstStyle/>
          <a:p>
            <a:pPr algn="l">
              <a:lnSpc>
                <a:spcPct val="110000"/>
              </a:lnSpc>
              <a:spcAft>
                <a:spcPts val="0"/>
              </a:spcAft>
            </a:pPr>
            <a:r>
              <a:rPr sz="1550" b="0" i="0">
                <a:solidFill>
                  <a:srgbClr val="6B7280"/>
                </a:solidFill>
                <a:latin typeface="Helvetica Neue"/>
              </a:rPr>
              <a:t>Find a supplier by name and report its account group</a:t>
            </a:r>
          </a:p>
        </p:txBody>
      </p:sp>
      <p:cxnSp>
        <p:nvCxnSpPr>
          <p:cNvPr id="8" name="Connector 7"/>
          <p:cNvCxnSpPr/>
          <p:nvPr/>
        </p:nvCxnSpPr>
        <p:spPr>
          <a:xfrm>
            <a:off x="640080" y="2807208"/>
            <a:ext cx="10911535" cy="0"/>
          </a:xfrm>
          <a:prstGeom prst="line">
            <a:avLst/>
          </a:prstGeom>
          <a:ln w="9525">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2935224"/>
            <a:ext cx="822960" cy="548640"/>
          </a:xfrm>
          <a:prstGeom prst="rect">
            <a:avLst/>
          </a:prstGeom>
          <a:noFill/>
        </p:spPr>
        <p:txBody>
          <a:bodyPr wrap="square" anchor="t" lIns="0" rIns="0" tIns="0" bIns="0">
            <a:spAutoFit/>
          </a:bodyPr>
          <a:lstStyle/>
          <a:p>
            <a:pPr algn="l">
              <a:lnSpc>
                <a:spcPct val="100000"/>
              </a:lnSpc>
              <a:spcAft>
                <a:spcPts val="0"/>
              </a:spcAft>
            </a:pPr>
            <a:r>
              <a:rPr sz="2200" b="1" i="0">
                <a:solidFill>
                  <a:srgbClr val="0E6B6B"/>
                </a:solidFill>
                <a:latin typeface="Georgia"/>
              </a:rPr>
              <a:t>02</a:t>
            </a:r>
          </a:p>
        </p:txBody>
      </p:sp>
      <p:sp>
        <p:nvSpPr>
          <p:cNvPr id="10" name="TextBox 9"/>
          <p:cNvSpPr txBox="1"/>
          <p:nvPr/>
        </p:nvSpPr>
        <p:spPr>
          <a:xfrm>
            <a:off x="1600200" y="2898648"/>
            <a:ext cx="3566160" cy="640080"/>
          </a:xfrm>
          <a:prstGeom prst="rect">
            <a:avLst/>
          </a:prstGeom>
          <a:noFill/>
        </p:spPr>
        <p:txBody>
          <a:bodyPr wrap="square" anchor="t" lIns="0" rIns="0" tIns="0" bIns="0">
            <a:spAutoFit/>
          </a:bodyPr>
          <a:lstStyle/>
          <a:p>
            <a:pPr algn="l">
              <a:lnSpc>
                <a:spcPct val="110000"/>
              </a:lnSpc>
              <a:spcAft>
                <a:spcPts val="0"/>
              </a:spcAft>
            </a:pPr>
            <a:r>
              <a:rPr sz="1550" b="1" i="0">
                <a:solidFill>
                  <a:srgbClr val="0B142A"/>
                </a:solidFill>
                <a:latin typeface="Helvetica Neue"/>
              </a:rPr>
              <a:t>Filter transactional documents</a:t>
            </a:r>
          </a:p>
        </p:txBody>
      </p:sp>
      <p:sp>
        <p:nvSpPr>
          <p:cNvPr id="11" name="TextBox 10"/>
          <p:cNvSpPr txBox="1"/>
          <p:nvPr/>
        </p:nvSpPr>
        <p:spPr>
          <a:xfrm>
            <a:off x="5349240" y="2898648"/>
            <a:ext cx="6309360" cy="640080"/>
          </a:xfrm>
          <a:prstGeom prst="rect">
            <a:avLst/>
          </a:prstGeom>
          <a:noFill/>
        </p:spPr>
        <p:txBody>
          <a:bodyPr wrap="square" anchor="t" lIns="0" rIns="0" tIns="0" bIns="0">
            <a:spAutoFit/>
          </a:bodyPr>
          <a:lstStyle/>
          <a:p>
            <a:pPr algn="l">
              <a:lnSpc>
                <a:spcPct val="110000"/>
              </a:lnSpc>
              <a:spcAft>
                <a:spcPts val="0"/>
              </a:spcAft>
            </a:pPr>
            <a:r>
              <a:rPr sz="1550" b="0" i="0">
                <a:solidFill>
                  <a:srgbClr val="6B7280"/>
                </a:solidFill>
                <a:latin typeface="Helvetica Neue"/>
              </a:rPr>
              <a:t>List purchase orders for a supplier and report currencies</a:t>
            </a:r>
          </a:p>
        </p:txBody>
      </p:sp>
      <p:cxnSp>
        <p:nvCxnSpPr>
          <p:cNvPr id="12" name="Connector 11"/>
          <p:cNvCxnSpPr/>
          <p:nvPr/>
        </p:nvCxnSpPr>
        <p:spPr>
          <a:xfrm>
            <a:off x="640080" y="3648456"/>
            <a:ext cx="10911535" cy="0"/>
          </a:xfrm>
          <a:prstGeom prst="line">
            <a:avLst/>
          </a:prstGeom>
          <a:ln w="9525">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40080" y="3776472"/>
            <a:ext cx="822960" cy="548640"/>
          </a:xfrm>
          <a:prstGeom prst="rect">
            <a:avLst/>
          </a:prstGeom>
          <a:noFill/>
        </p:spPr>
        <p:txBody>
          <a:bodyPr wrap="square" anchor="t" lIns="0" rIns="0" tIns="0" bIns="0">
            <a:spAutoFit/>
          </a:bodyPr>
          <a:lstStyle/>
          <a:p>
            <a:pPr algn="l">
              <a:lnSpc>
                <a:spcPct val="100000"/>
              </a:lnSpc>
              <a:spcAft>
                <a:spcPts val="0"/>
              </a:spcAft>
            </a:pPr>
            <a:r>
              <a:rPr sz="2200" b="1" i="0">
                <a:solidFill>
                  <a:srgbClr val="0E6B6B"/>
                </a:solidFill>
                <a:latin typeface="Georgia"/>
              </a:rPr>
              <a:t>03</a:t>
            </a:r>
          </a:p>
        </p:txBody>
      </p:sp>
      <p:sp>
        <p:nvSpPr>
          <p:cNvPr id="14" name="TextBox 13"/>
          <p:cNvSpPr txBox="1"/>
          <p:nvPr/>
        </p:nvSpPr>
        <p:spPr>
          <a:xfrm>
            <a:off x="1600200" y="3739896"/>
            <a:ext cx="3566160" cy="640080"/>
          </a:xfrm>
          <a:prstGeom prst="rect">
            <a:avLst/>
          </a:prstGeom>
          <a:noFill/>
        </p:spPr>
        <p:txBody>
          <a:bodyPr wrap="square" anchor="t" lIns="0" rIns="0" tIns="0" bIns="0">
            <a:spAutoFit/>
          </a:bodyPr>
          <a:lstStyle/>
          <a:p>
            <a:pPr algn="l">
              <a:lnSpc>
                <a:spcPct val="110000"/>
              </a:lnSpc>
              <a:spcAft>
                <a:spcPts val="0"/>
              </a:spcAft>
            </a:pPr>
            <a:r>
              <a:rPr sz="1550" b="1" i="0">
                <a:solidFill>
                  <a:srgbClr val="0B142A"/>
                </a:solidFill>
                <a:latin typeface="Helvetica Neue"/>
              </a:rPr>
              <a:t>Create a document</a:t>
            </a:r>
          </a:p>
        </p:txBody>
      </p:sp>
      <p:sp>
        <p:nvSpPr>
          <p:cNvPr id="15" name="TextBox 14"/>
          <p:cNvSpPr txBox="1"/>
          <p:nvPr/>
        </p:nvSpPr>
        <p:spPr>
          <a:xfrm>
            <a:off x="5349240" y="3739896"/>
            <a:ext cx="6309360" cy="640080"/>
          </a:xfrm>
          <a:prstGeom prst="rect">
            <a:avLst/>
          </a:prstGeom>
          <a:noFill/>
        </p:spPr>
        <p:txBody>
          <a:bodyPr wrap="square" anchor="t" lIns="0" rIns="0" tIns="0" bIns="0">
            <a:spAutoFit/>
          </a:bodyPr>
          <a:lstStyle/>
          <a:p>
            <a:pPr algn="l">
              <a:lnSpc>
                <a:spcPct val="110000"/>
              </a:lnSpc>
              <a:spcAft>
                <a:spcPts val="0"/>
              </a:spcAft>
            </a:pPr>
            <a:r>
              <a:rPr sz="1550" b="0" i="0">
                <a:solidFill>
                  <a:srgbClr val="6B7280"/>
                </a:solidFill>
                <a:latin typeface="Helvetica Neue"/>
              </a:rPr>
              <a:t>Create a purchase order</a:t>
            </a:r>
          </a:p>
        </p:txBody>
      </p:sp>
      <p:cxnSp>
        <p:nvCxnSpPr>
          <p:cNvPr id="16" name="Connector 15"/>
          <p:cNvCxnSpPr/>
          <p:nvPr/>
        </p:nvCxnSpPr>
        <p:spPr>
          <a:xfrm>
            <a:off x="640080" y="4489704"/>
            <a:ext cx="10911535" cy="0"/>
          </a:xfrm>
          <a:prstGeom prst="line">
            <a:avLst/>
          </a:prstGeom>
          <a:ln w="9525">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40080" y="4617720"/>
            <a:ext cx="822960" cy="548640"/>
          </a:xfrm>
          <a:prstGeom prst="rect">
            <a:avLst/>
          </a:prstGeom>
          <a:noFill/>
        </p:spPr>
        <p:txBody>
          <a:bodyPr wrap="square" anchor="t" lIns="0" rIns="0" tIns="0" bIns="0">
            <a:spAutoFit/>
          </a:bodyPr>
          <a:lstStyle/>
          <a:p>
            <a:pPr algn="l">
              <a:lnSpc>
                <a:spcPct val="100000"/>
              </a:lnSpc>
              <a:spcAft>
                <a:spcPts val="0"/>
              </a:spcAft>
            </a:pPr>
            <a:r>
              <a:rPr sz="2200" b="1" i="0">
                <a:solidFill>
                  <a:srgbClr val="0E6B6B"/>
                </a:solidFill>
                <a:latin typeface="Georgia"/>
              </a:rPr>
              <a:t>04</a:t>
            </a:r>
          </a:p>
        </p:txBody>
      </p:sp>
      <p:sp>
        <p:nvSpPr>
          <p:cNvPr id="18" name="TextBox 17"/>
          <p:cNvSpPr txBox="1"/>
          <p:nvPr/>
        </p:nvSpPr>
        <p:spPr>
          <a:xfrm>
            <a:off x="1600200" y="4581144"/>
            <a:ext cx="3566160" cy="640080"/>
          </a:xfrm>
          <a:prstGeom prst="rect">
            <a:avLst/>
          </a:prstGeom>
          <a:noFill/>
        </p:spPr>
        <p:txBody>
          <a:bodyPr wrap="square" anchor="t" lIns="0" rIns="0" tIns="0" bIns="0">
            <a:spAutoFit/>
          </a:bodyPr>
          <a:lstStyle/>
          <a:p>
            <a:pPr algn="l">
              <a:lnSpc>
                <a:spcPct val="110000"/>
              </a:lnSpc>
              <a:spcAft>
                <a:spcPts val="0"/>
              </a:spcAft>
            </a:pPr>
            <a:r>
              <a:rPr sz="1550" b="1" i="0">
                <a:solidFill>
                  <a:srgbClr val="0B142A"/>
                </a:solidFill>
                <a:latin typeface="Helvetica Neue"/>
              </a:rPr>
              <a:t>Summarize documents</a:t>
            </a:r>
          </a:p>
        </p:txBody>
      </p:sp>
      <p:sp>
        <p:nvSpPr>
          <p:cNvPr id="19" name="TextBox 18"/>
          <p:cNvSpPr txBox="1"/>
          <p:nvPr/>
        </p:nvSpPr>
        <p:spPr>
          <a:xfrm>
            <a:off x="5349240" y="4581144"/>
            <a:ext cx="6309360" cy="640080"/>
          </a:xfrm>
          <a:prstGeom prst="rect">
            <a:avLst/>
          </a:prstGeom>
          <a:noFill/>
        </p:spPr>
        <p:txBody>
          <a:bodyPr wrap="square" anchor="t" lIns="0" rIns="0" tIns="0" bIns="0">
            <a:spAutoFit/>
          </a:bodyPr>
          <a:lstStyle/>
          <a:p>
            <a:pPr algn="l">
              <a:lnSpc>
                <a:spcPct val="110000"/>
              </a:lnSpc>
              <a:spcAft>
                <a:spcPts val="0"/>
              </a:spcAft>
            </a:pPr>
            <a:r>
              <a:rPr sz="1550" b="0" i="0">
                <a:solidFill>
                  <a:srgbClr val="6B7280"/>
                </a:solidFill>
                <a:latin typeface="Helvetica Neue"/>
              </a:rPr>
              <a:t>Summarize a supplier's invoices</a:t>
            </a:r>
          </a:p>
        </p:txBody>
      </p:sp>
      <p:cxnSp>
        <p:nvCxnSpPr>
          <p:cNvPr id="20" name="Connector 19"/>
          <p:cNvCxnSpPr/>
          <p:nvPr/>
        </p:nvCxnSpPr>
        <p:spPr>
          <a:xfrm>
            <a:off x="640080" y="5330952"/>
            <a:ext cx="10911535" cy="0"/>
          </a:xfrm>
          <a:prstGeom prst="line">
            <a:avLst/>
          </a:prstGeom>
          <a:ln w="9525">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40080" y="5458968"/>
            <a:ext cx="822960" cy="548640"/>
          </a:xfrm>
          <a:prstGeom prst="rect">
            <a:avLst/>
          </a:prstGeom>
          <a:noFill/>
        </p:spPr>
        <p:txBody>
          <a:bodyPr wrap="square" anchor="t" lIns="0" rIns="0" tIns="0" bIns="0">
            <a:spAutoFit/>
          </a:bodyPr>
          <a:lstStyle/>
          <a:p>
            <a:pPr algn="l">
              <a:lnSpc>
                <a:spcPct val="100000"/>
              </a:lnSpc>
              <a:spcAft>
                <a:spcPts val="0"/>
              </a:spcAft>
            </a:pPr>
            <a:r>
              <a:rPr sz="2200" b="1" i="0">
                <a:solidFill>
                  <a:srgbClr val="0E6B6B"/>
                </a:solidFill>
                <a:latin typeface="Georgia"/>
              </a:rPr>
              <a:t>05</a:t>
            </a:r>
          </a:p>
        </p:txBody>
      </p:sp>
      <p:sp>
        <p:nvSpPr>
          <p:cNvPr id="22" name="TextBox 21"/>
          <p:cNvSpPr txBox="1"/>
          <p:nvPr/>
        </p:nvSpPr>
        <p:spPr>
          <a:xfrm>
            <a:off x="1600200" y="5422392"/>
            <a:ext cx="3566160" cy="640080"/>
          </a:xfrm>
          <a:prstGeom prst="rect">
            <a:avLst/>
          </a:prstGeom>
          <a:noFill/>
        </p:spPr>
        <p:txBody>
          <a:bodyPr wrap="square" anchor="t" lIns="0" rIns="0" tIns="0" bIns="0">
            <a:spAutoFit/>
          </a:bodyPr>
          <a:lstStyle/>
          <a:p>
            <a:pPr algn="l">
              <a:lnSpc>
                <a:spcPct val="110000"/>
              </a:lnSpc>
              <a:spcAft>
                <a:spcPts val="0"/>
              </a:spcAft>
            </a:pPr>
            <a:r>
              <a:rPr sz="1550" b="1" i="0">
                <a:solidFill>
                  <a:srgbClr val="0B142A"/>
                </a:solidFill>
                <a:latin typeface="Helvetica Neue"/>
              </a:rPr>
              <a:t>Cross reference two objects</a:t>
            </a:r>
          </a:p>
        </p:txBody>
      </p:sp>
      <p:sp>
        <p:nvSpPr>
          <p:cNvPr id="23" name="TextBox 22"/>
          <p:cNvSpPr txBox="1"/>
          <p:nvPr/>
        </p:nvSpPr>
        <p:spPr>
          <a:xfrm>
            <a:off x="5349240" y="5422392"/>
            <a:ext cx="6309360" cy="640080"/>
          </a:xfrm>
          <a:prstGeom prst="rect">
            <a:avLst/>
          </a:prstGeom>
          <a:noFill/>
        </p:spPr>
        <p:txBody>
          <a:bodyPr wrap="square" anchor="t" lIns="0" rIns="0" tIns="0" bIns="0">
            <a:spAutoFit/>
          </a:bodyPr>
          <a:lstStyle/>
          <a:p>
            <a:pPr algn="l">
              <a:lnSpc>
                <a:spcPct val="110000"/>
              </a:lnSpc>
              <a:spcAft>
                <a:spcPts val="0"/>
              </a:spcAft>
            </a:pPr>
            <a:r>
              <a:rPr sz="1550" b="0" i="0">
                <a:solidFill>
                  <a:srgbClr val="6B7280"/>
                </a:solidFill>
                <a:latin typeface="Helvetica Neue"/>
              </a:rPr>
              <a:t>Report a product's base unit and type</a:t>
            </a:r>
          </a:p>
        </p:txBody>
      </p:sp>
      <p:sp>
        <p:nvSpPr>
          <p:cNvPr id="24" name="TextBox 23"/>
          <p:cNvSpPr txBox="1"/>
          <p:nvPr/>
        </p:nvSpPr>
        <p:spPr>
          <a:xfrm>
            <a:off x="640080" y="6492240"/>
            <a:ext cx="5486400" cy="274320"/>
          </a:xfrm>
          <a:prstGeom prst="rect">
            <a:avLst/>
          </a:prstGeom>
          <a:noFill/>
        </p:spPr>
        <p:txBody>
          <a:bodyPr wrap="square" anchor="t" lIns="0" rIns="0" tIns="0" bIns="0">
            <a:spAutoFit/>
          </a:bodyPr>
          <a:lstStyle/>
          <a:p>
            <a:pPr algn="l">
              <a:lnSpc>
                <a:spcPct val="100000"/>
              </a:lnSpc>
              <a:spcAft>
                <a:spcPts val="0"/>
              </a:spcAft>
            </a:pPr>
            <a:r>
              <a:rPr sz="950" b="0" i="0">
                <a:solidFill>
                  <a:srgbClr val="6B7280"/>
                </a:solidFill>
                <a:latin typeface="Helvetica Neue"/>
              </a:rPr>
              <a:t>Can an AI agent operate an ERP? — July 2026 study</a:t>
            </a:r>
          </a:p>
        </p:txBody>
      </p:sp>
      <p:sp>
        <p:nvSpPr>
          <p:cNvPr id="25" name="TextBox 24"/>
          <p:cNvSpPr txBox="1"/>
          <p:nvPr/>
        </p:nvSpPr>
        <p:spPr>
          <a:xfrm>
            <a:off x="10180015" y="6492240"/>
            <a:ext cx="1371600" cy="274320"/>
          </a:xfrm>
          <a:prstGeom prst="rect">
            <a:avLst/>
          </a:prstGeom>
          <a:noFill/>
        </p:spPr>
        <p:txBody>
          <a:bodyPr wrap="square" anchor="t" lIns="0" rIns="0" tIns="0" bIns="0">
            <a:spAutoFit/>
          </a:bodyPr>
          <a:lstStyle/>
          <a:p>
            <a:pPr algn="r">
              <a:lnSpc>
                <a:spcPct val="100000"/>
              </a:lnSpc>
              <a:spcAft>
                <a:spcPts val="0"/>
              </a:spcAft>
            </a:pPr>
            <a:r>
              <a:rPr sz="950" b="0" i="0">
                <a:solidFill>
                  <a:srgbClr val="6B7280"/>
                </a:solidFill>
                <a:latin typeface="Helvetica Neue"/>
              </a:rPr>
              <a:t>04 / 11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7315200" cy="320040"/>
          </a:xfrm>
          <a:prstGeom prst="rect">
            <a:avLst/>
          </a:prstGeom>
          <a:noFill/>
        </p:spPr>
        <p:txBody>
          <a:bodyPr wrap="square" anchor="t" lIns="0" rIns="0" tIns="0" bIns="0">
            <a:spAutoFit/>
          </a:bodyPr>
          <a:lstStyle/>
          <a:p>
            <a:pPr algn="l">
              <a:lnSpc>
                <a:spcPct val="100000"/>
              </a:lnSpc>
              <a:spcAft>
                <a:spcPts val="0"/>
              </a:spcAft>
            </a:pPr>
            <a:r>
              <a:rPr sz="1250" b="1" i="0">
                <a:solidFill>
                  <a:srgbClr val="0E6B6B"/>
                </a:solidFill>
                <a:latin typeface="Helvetica Neue"/>
              </a:rPr>
              <a:t>RESULTS</a:t>
            </a:r>
          </a:p>
        </p:txBody>
      </p:sp>
      <p:sp>
        <p:nvSpPr>
          <p:cNvPr id="3" name="TextBox 2"/>
          <p:cNvSpPr txBox="1"/>
          <p:nvPr/>
        </p:nvSpPr>
        <p:spPr>
          <a:xfrm>
            <a:off x="640080" y="749808"/>
            <a:ext cx="10881360" cy="822960"/>
          </a:xfrm>
          <a:prstGeom prst="rect">
            <a:avLst/>
          </a:prstGeom>
          <a:noFill/>
        </p:spPr>
        <p:txBody>
          <a:bodyPr wrap="square" anchor="t" lIns="0" rIns="0" tIns="0" bIns="0">
            <a:spAutoFit/>
          </a:bodyPr>
          <a:lstStyle/>
          <a:p>
            <a:pPr algn="l">
              <a:lnSpc>
                <a:spcPct val="100000"/>
              </a:lnSpc>
              <a:spcAft>
                <a:spcPts val="0"/>
              </a:spcAft>
            </a:pPr>
            <a:r>
              <a:rPr sz="3000" b="1" i="0">
                <a:solidFill>
                  <a:srgbClr val="0B142A"/>
                </a:solidFill>
                <a:latin typeface="Georgia"/>
              </a:rPr>
              <a:t>Four of five tasks succeeded</a:t>
            </a:r>
          </a:p>
        </p:txBody>
      </p:sp>
      <p:cxnSp>
        <p:nvCxnSpPr>
          <p:cNvPr id="4" name="Connector 3"/>
          <p:cNvCxnSpPr/>
          <p:nvPr/>
        </p:nvCxnSpPr>
        <p:spPr>
          <a:xfrm>
            <a:off x="640080" y="1481328"/>
            <a:ext cx="10911535" cy="0"/>
          </a:xfrm>
          <a:prstGeom prst="line">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783080"/>
            <a:ext cx="3108960" cy="685800"/>
          </a:xfrm>
          <a:prstGeom prst="rect">
            <a:avLst/>
          </a:prstGeom>
          <a:noFill/>
        </p:spPr>
        <p:txBody>
          <a:bodyPr wrap="square" anchor="t" lIns="0" rIns="0" tIns="0" bIns="0">
            <a:spAutoFit/>
          </a:bodyPr>
          <a:lstStyle/>
          <a:p>
            <a:pPr algn="l">
              <a:lnSpc>
                <a:spcPct val="100000"/>
              </a:lnSpc>
              <a:spcAft>
                <a:spcPts val="0"/>
              </a:spcAft>
            </a:pPr>
            <a:r>
              <a:rPr sz="4600" b="1" i="0">
                <a:solidFill>
                  <a:srgbClr val="0E6B6B"/>
                </a:solidFill>
                <a:latin typeface="Georgia"/>
              </a:rPr>
              <a:t>4 / 5</a:t>
            </a:r>
          </a:p>
        </p:txBody>
      </p:sp>
      <p:sp>
        <p:nvSpPr>
          <p:cNvPr id="6" name="TextBox 5"/>
          <p:cNvSpPr txBox="1"/>
          <p:nvPr/>
        </p:nvSpPr>
        <p:spPr>
          <a:xfrm>
            <a:off x="640080" y="2471373"/>
            <a:ext cx="3108960" cy="548640"/>
          </a:xfrm>
          <a:prstGeom prst="rect">
            <a:avLst/>
          </a:prstGeom>
          <a:noFill/>
        </p:spPr>
        <p:txBody>
          <a:bodyPr wrap="square" anchor="t" lIns="0" rIns="0" tIns="0" bIns="0">
            <a:spAutoFit/>
          </a:bodyPr>
          <a:lstStyle/>
          <a:p>
            <a:pPr algn="l">
              <a:lnSpc>
                <a:spcPct val="115000"/>
              </a:lnSpc>
              <a:spcAft>
                <a:spcPts val="0"/>
              </a:spcAft>
            </a:pPr>
            <a:r>
              <a:rPr sz="1250" b="0" i="0">
                <a:solidFill>
                  <a:srgbClr val="6B7280"/>
                </a:solidFill>
                <a:latin typeface="Helvetica Neue"/>
              </a:rPr>
              <a:t>tasks succeeded</a:t>
            </a:r>
          </a:p>
          <a:p>
            <a:pPr algn="l">
              <a:lnSpc>
                <a:spcPct val="115000"/>
              </a:lnSpc>
              <a:spcAft>
                <a:spcPts val="0"/>
              </a:spcAft>
            </a:pPr>
            <a:r>
              <a:rPr sz="1250" b="0" i="0">
                <a:solidFill>
                  <a:srgbClr val="6B7280"/>
                </a:solidFill>
                <a:latin typeface="Helvetica Neue"/>
              </a:rPr>
              <a:t>on first evaluation</a:t>
            </a:r>
          </a:p>
        </p:txBody>
      </p:sp>
      <p:cxnSp>
        <p:nvCxnSpPr>
          <p:cNvPr id="7" name="Connector 6"/>
          <p:cNvCxnSpPr/>
          <p:nvPr/>
        </p:nvCxnSpPr>
        <p:spPr>
          <a:xfrm>
            <a:off x="4297680" y="1828800"/>
            <a:ext cx="7253935" cy="0"/>
          </a:xfrm>
          <a:prstGeom prst="line">
            <a:avLst/>
          </a:prstGeom>
          <a:ln w="15875">
            <a:solidFill>
              <a:srgbClr val="0B142A"/>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297680" y="1901952"/>
            <a:ext cx="4480560" cy="320040"/>
          </a:xfrm>
          <a:prstGeom prst="rect">
            <a:avLst/>
          </a:prstGeom>
          <a:noFill/>
        </p:spPr>
        <p:txBody>
          <a:bodyPr wrap="square" anchor="t" lIns="0" rIns="0" tIns="0" bIns="0">
            <a:spAutoFit/>
          </a:bodyPr>
          <a:lstStyle/>
          <a:p>
            <a:pPr algn="l">
              <a:lnSpc>
                <a:spcPct val="100000"/>
              </a:lnSpc>
              <a:spcAft>
                <a:spcPts val="0"/>
              </a:spcAft>
            </a:pPr>
            <a:r>
              <a:rPr sz="1200" b="1" i="0">
                <a:solidFill>
                  <a:srgbClr val="6B7280"/>
                </a:solidFill>
                <a:latin typeface="Helvetica Neue"/>
              </a:rPr>
              <a:t>Task</a:t>
            </a:r>
          </a:p>
        </p:txBody>
      </p:sp>
      <p:sp>
        <p:nvSpPr>
          <p:cNvPr id="9" name="TextBox 8"/>
          <p:cNvSpPr txBox="1"/>
          <p:nvPr/>
        </p:nvSpPr>
        <p:spPr>
          <a:xfrm>
            <a:off x="8778240" y="1901952"/>
            <a:ext cx="1737360" cy="320040"/>
          </a:xfrm>
          <a:prstGeom prst="rect">
            <a:avLst/>
          </a:prstGeom>
          <a:noFill/>
        </p:spPr>
        <p:txBody>
          <a:bodyPr wrap="square" anchor="t" lIns="0" rIns="0" tIns="0" bIns="0">
            <a:spAutoFit/>
          </a:bodyPr>
          <a:lstStyle/>
          <a:p>
            <a:pPr algn="ctr">
              <a:lnSpc>
                <a:spcPct val="100000"/>
              </a:lnSpc>
              <a:spcAft>
                <a:spcPts val="0"/>
              </a:spcAft>
            </a:pPr>
            <a:r>
              <a:rPr sz="1200" b="1" i="0">
                <a:solidFill>
                  <a:srgbClr val="6B7280"/>
                </a:solidFill>
                <a:latin typeface="Helvetica Neue"/>
              </a:rPr>
              <a:t>Outcome</a:t>
            </a:r>
          </a:p>
        </p:txBody>
      </p:sp>
      <p:sp>
        <p:nvSpPr>
          <p:cNvPr id="10" name="TextBox 9"/>
          <p:cNvSpPr txBox="1"/>
          <p:nvPr/>
        </p:nvSpPr>
        <p:spPr>
          <a:xfrm>
            <a:off x="10515600" y="1901952"/>
            <a:ext cx="868680" cy="320040"/>
          </a:xfrm>
          <a:prstGeom prst="rect">
            <a:avLst/>
          </a:prstGeom>
          <a:noFill/>
        </p:spPr>
        <p:txBody>
          <a:bodyPr wrap="square" anchor="t" lIns="0" rIns="0" tIns="0" bIns="0">
            <a:spAutoFit/>
          </a:bodyPr>
          <a:lstStyle/>
          <a:p>
            <a:pPr algn="ctr">
              <a:lnSpc>
                <a:spcPct val="100000"/>
              </a:lnSpc>
              <a:spcAft>
                <a:spcPts val="0"/>
              </a:spcAft>
            </a:pPr>
            <a:r>
              <a:rPr sz="1200" b="1" i="0">
                <a:solidFill>
                  <a:srgbClr val="6B7280"/>
                </a:solidFill>
                <a:latin typeface="Helvetica Neue"/>
              </a:rPr>
              <a:t>Turns</a:t>
            </a:r>
          </a:p>
        </p:txBody>
      </p:sp>
      <p:sp>
        <p:nvSpPr>
          <p:cNvPr id="11" name="TextBox 10"/>
          <p:cNvSpPr txBox="1"/>
          <p:nvPr/>
        </p:nvSpPr>
        <p:spPr>
          <a:xfrm>
            <a:off x="11384280" y="1901952"/>
            <a:ext cx="914400" cy="320040"/>
          </a:xfrm>
          <a:prstGeom prst="rect">
            <a:avLst/>
          </a:prstGeom>
          <a:noFill/>
        </p:spPr>
        <p:txBody>
          <a:bodyPr wrap="square" anchor="t" lIns="0" rIns="0" tIns="0" bIns="0">
            <a:spAutoFit/>
          </a:bodyPr>
          <a:lstStyle/>
          <a:p>
            <a:pPr algn="ctr">
              <a:lnSpc>
                <a:spcPct val="100000"/>
              </a:lnSpc>
              <a:spcAft>
                <a:spcPts val="0"/>
              </a:spcAft>
            </a:pPr>
            <a:r>
              <a:rPr sz="1200" b="1" i="0">
                <a:solidFill>
                  <a:srgbClr val="6B7280"/>
                </a:solidFill>
                <a:latin typeface="Helvetica Neue"/>
              </a:rPr>
              <a:t>API calls</a:t>
            </a:r>
          </a:p>
        </p:txBody>
      </p:sp>
      <p:cxnSp>
        <p:nvCxnSpPr>
          <p:cNvPr id="12" name="Connector 11"/>
          <p:cNvCxnSpPr/>
          <p:nvPr/>
        </p:nvCxnSpPr>
        <p:spPr>
          <a:xfrm>
            <a:off x="4297680" y="2286000"/>
            <a:ext cx="7253935" cy="0"/>
          </a:xfrm>
          <a:prstGeom prst="line">
            <a:avLst/>
          </a:prstGeom>
          <a:ln w="12700">
            <a:solidFill>
              <a:srgbClr val="0B142A"/>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297680" y="2432304"/>
            <a:ext cx="4480560" cy="548640"/>
          </a:xfrm>
          <a:prstGeom prst="rect">
            <a:avLst/>
          </a:prstGeom>
          <a:noFill/>
        </p:spPr>
        <p:txBody>
          <a:bodyPr wrap="square" anchor="t" lIns="0" rIns="0" tIns="0" bIns="0">
            <a:spAutoFit/>
          </a:bodyPr>
          <a:lstStyle/>
          <a:p>
            <a:pPr algn="l">
              <a:lnSpc>
                <a:spcPct val="110000"/>
              </a:lnSpc>
              <a:spcAft>
                <a:spcPts val="0"/>
              </a:spcAft>
            </a:pPr>
            <a:r>
              <a:rPr sz="1350" b="0" i="0">
                <a:solidFill>
                  <a:srgbClr val="0B142A"/>
                </a:solidFill>
                <a:latin typeface="Helvetica Neue"/>
              </a:rPr>
              <a:t>Find a supplier and report its account group</a:t>
            </a:r>
          </a:p>
        </p:txBody>
      </p:sp>
      <p:sp>
        <p:nvSpPr>
          <p:cNvPr id="14" name="TextBox 13"/>
          <p:cNvSpPr txBox="1"/>
          <p:nvPr/>
        </p:nvSpPr>
        <p:spPr>
          <a:xfrm>
            <a:off x="8778240" y="2468880"/>
            <a:ext cx="1737360" cy="365760"/>
          </a:xfrm>
          <a:prstGeom prst="rect">
            <a:avLst/>
          </a:prstGeom>
          <a:noFill/>
        </p:spPr>
        <p:txBody>
          <a:bodyPr wrap="square" anchor="t" lIns="0" rIns="0" tIns="0" bIns="0">
            <a:spAutoFit/>
          </a:bodyPr>
          <a:lstStyle/>
          <a:p>
            <a:pPr algn="ctr">
              <a:lnSpc>
                <a:spcPct val="100000"/>
              </a:lnSpc>
              <a:spcAft>
                <a:spcPts val="0"/>
              </a:spcAft>
            </a:pPr>
            <a:r>
              <a:rPr sz="1300" b="1" i="0">
                <a:solidFill>
                  <a:srgbClr val="0E6B6B"/>
                </a:solidFill>
                <a:latin typeface="Helvetica Neue"/>
              </a:rPr>
              <a:t>Success</a:t>
            </a:r>
          </a:p>
        </p:txBody>
      </p:sp>
      <p:sp>
        <p:nvSpPr>
          <p:cNvPr id="15" name="TextBox 14"/>
          <p:cNvSpPr txBox="1"/>
          <p:nvPr/>
        </p:nvSpPr>
        <p:spPr>
          <a:xfrm>
            <a:off x="10515600" y="2468880"/>
            <a:ext cx="868680" cy="365760"/>
          </a:xfrm>
          <a:prstGeom prst="rect">
            <a:avLst/>
          </a:prstGeom>
          <a:noFill/>
        </p:spPr>
        <p:txBody>
          <a:bodyPr wrap="square" anchor="t" lIns="0" rIns="0" tIns="0" bIns="0">
            <a:spAutoFit/>
          </a:bodyPr>
          <a:lstStyle/>
          <a:p>
            <a:pPr algn="ctr">
              <a:lnSpc>
                <a:spcPct val="100000"/>
              </a:lnSpc>
              <a:spcAft>
                <a:spcPts val="0"/>
              </a:spcAft>
            </a:pPr>
            <a:r>
              <a:rPr sz="1350" b="0" i="0">
                <a:solidFill>
                  <a:srgbClr val="0B142A"/>
                </a:solidFill>
                <a:latin typeface="Helvetica Neue"/>
              </a:rPr>
              <a:t>13</a:t>
            </a:r>
          </a:p>
        </p:txBody>
      </p:sp>
      <p:sp>
        <p:nvSpPr>
          <p:cNvPr id="16" name="TextBox 15"/>
          <p:cNvSpPr txBox="1"/>
          <p:nvPr/>
        </p:nvSpPr>
        <p:spPr>
          <a:xfrm>
            <a:off x="11384280" y="2468880"/>
            <a:ext cx="914400" cy="365760"/>
          </a:xfrm>
          <a:prstGeom prst="rect">
            <a:avLst/>
          </a:prstGeom>
          <a:noFill/>
        </p:spPr>
        <p:txBody>
          <a:bodyPr wrap="square" anchor="t" lIns="0" rIns="0" tIns="0" bIns="0">
            <a:spAutoFit/>
          </a:bodyPr>
          <a:lstStyle/>
          <a:p>
            <a:pPr algn="ctr">
              <a:lnSpc>
                <a:spcPct val="100000"/>
              </a:lnSpc>
              <a:spcAft>
                <a:spcPts val="0"/>
              </a:spcAft>
            </a:pPr>
            <a:r>
              <a:rPr sz="1350" b="0" i="0">
                <a:solidFill>
                  <a:srgbClr val="0B142A"/>
                </a:solidFill>
                <a:latin typeface="Helvetica Neue"/>
              </a:rPr>
              <a:t>11</a:t>
            </a:r>
          </a:p>
        </p:txBody>
      </p:sp>
      <p:cxnSp>
        <p:nvCxnSpPr>
          <p:cNvPr id="17" name="Connector 16"/>
          <p:cNvCxnSpPr/>
          <p:nvPr/>
        </p:nvCxnSpPr>
        <p:spPr>
          <a:xfrm>
            <a:off x="4297680" y="2944368"/>
            <a:ext cx="7253935" cy="0"/>
          </a:xfrm>
          <a:prstGeom prst="line">
            <a:avLst/>
          </a:prstGeom>
          <a:ln w="762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297680" y="3090672"/>
            <a:ext cx="4480560" cy="548640"/>
          </a:xfrm>
          <a:prstGeom prst="rect">
            <a:avLst/>
          </a:prstGeom>
          <a:noFill/>
        </p:spPr>
        <p:txBody>
          <a:bodyPr wrap="square" anchor="t" lIns="0" rIns="0" tIns="0" bIns="0">
            <a:spAutoFit/>
          </a:bodyPr>
          <a:lstStyle/>
          <a:p>
            <a:pPr algn="l">
              <a:lnSpc>
                <a:spcPct val="110000"/>
              </a:lnSpc>
              <a:spcAft>
                <a:spcPts val="0"/>
              </a:spcAft>
            </a:pPr>
            <a:r>
              <a:rPr sz="1350" b="0" i="0">
                <a:solidFill>
                  <a:srgbClr val="0B142A"/>
                </a:solidFill>
                <a:latin typeface="Helvetica Neue"/>
              </a:rPr>
              <a:t>List purchase orders for a supplier and report currencies</a:t>
            </a:r>
          </a:p>
        </p:txBody>
      </p:sp>
      <p:sp>
        <p:nvSpPr>
          <p:cNvPr id="19" name="TextBox 18"/>
          <p:cNvSpPr txBox="1"/>
          <p:nvPr/>
        </p:nvSpPr>
        <p:spPr>
          <a:xfrm>
            <a:off x="8778240" y="3127248"/>
            <a:ext cx="1737360" cy="365760"/>
          </a:xfrm>
          <a:prstGeom prst="rect">
            <a:avLst/>
          </a:prstGeom>
          <a:noFill/>
        </p:spPr>
        <p:txBody>
          <a:bodyPr wrap="square" anchor="t" lIns="0" rIns="0" tIns="0" bIns="0">
            <a:spAutoFit/>
          </a:bodyPr>
          <a:lstStyle/>
          <a:p>
            <a:pPr algn="ctr">
              <a:lnSpc>
                <a:spcPct val="100000"/>
              </a:lnSpc>
              <a:spcAft>
                <a:spcPts val="0"/>
              </a:spcAft>
            </a:pPr>
            <a:r>
              <a:rPr sz="1300" b="1" i="0">
                <a:solidFill>
                  <a:srgbClr val="0E6B6B"/>
                </a:solidFill>
                <a:latin typeface="Helvetica Neue"/>
              </a:rPr>
              <a:t>Success</a:t>
            </a:r>
          </a:p>
        </p:txBody>
      </p:sp>
      <p:sp>
        <p:nvSpPr>
          <p:cNvPr id="20" name="TextBox 19"/>
          <p:cNvSpPr txBox="1"/>
          <p:nvPr/>
        </p:nvSpPr>
        <p:spPr>
          <a:xfrm>
            <a:off x="10515600" y="3127248"/>
            <a:ext cx="868680" cy="365760"/>
          </a:xfrm>
          <a:prstGeom prst="rect">
            <a:avLst/>
          </a:prstGeom>
          <a:noFill/>
        </p:spPr>
        <p:txBody>
          <a:bodyPr wrap="square" anchor="t" lIns="0" rIns="0" tIns="0" bIns="0">
            <a:spAutoFit/>
          </a:bodyPr>
          <a:lstStyle/>
          <a:p>
            <a:pPr algn="ctr">
              <a:lnSpc>
                <a:spcPct val="100000"/>
              </a:lnSpc>
              <a:spcAft>
                <a:spcPts val="0"/>
              </a:spcAft>
            </a:pPr>
            <a:r>
              <a:rPr sz="1350" b="0" i="0">
                <a:solidFill>
                  <a:srgbClr val="0B142A"/>
                </a:solidFill>
                <a:latin typeface="Helvetica Neue"/>
              </a:rPr>
              <a:t>3</a:t>
            </a:r>
          </a:p>
        </p:txBody>
      </p:sp>
      <p:sp>
        <p:nvSpPr>
          <p:cNvPr id="21" name="TextBox 20"/>
          <p:cNvSpPr txBox="1"/>
          <p:nvPr/>
        </p:nvSpPr>
        <p:spPr>
          <a:xfrm>
            <a:off x="11384280" y="3127248"/>
            <a:ext cx="914400" cy="365760"/>
          </a:xfrm>
          <a:prstGeom prst="rect">
            <a:avLst/>
          </a:prstGeom>
          <a:noFill/>
        </p:spPr>
        <p:txBody>
          <a:bodyPr wrap="square" anchor="t" lIns="0" rIns="0" tIns="0" bIns="0">
            <a:spAutoFit/>
          </a:bodyPr>
          <a:lstStyle/>
          <a:p>
            <a:pPr algn="ctr">
              <a:lnSpc>
                <a:spcPct val="100000"/>
              </a:lnSpc>
              <a:spcAft>
                <a:spcPts val="0"/>
              </a:spcAft>
            </a:pPr>
            <a:r>
              <a:rPr sz="1350" b="0" i="0">
                <a:solidFill>
                  <a:srgbClr val="0B142A"/>
                </a:solidFill>
                <a:latin typeface="Helvetica Neue"/>
              </a:rPr>
              <a:t>1</a:t>
            </a:r>
          </a:p>
        </p:txBody>
      </p:sp>
      <p:cxnSp>
        <p:nvCxnSpPr>
          <p:cNvPr id="22" name="Connector 21"/>
          <p:cNvCxnSpPr/>
          <p:nvPr/>
        </p:nvCxnSpPr>
        <p:spPr>
          <a:xfrm>
            <a:off x="4297680" y="3602736"/>
            <a:ext cx="7253935" cy="0"/>
          </a:xfrm>
          <a:prstGeom prst="line">
            <a:avLst/>
          </a:prstGeom>
          <a:ln w="762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297680" y="3749040"/>
            <a:ext cx="4480560" cy="548640"/>
          </a:xfrm>
          <a:prstGeom prst="rect">
            <a:avLst/>
          </a:prstGeom>
          <a:noFill/>
        </p:spPr>
        <p:txBody>
          <a:bodyPr wrap="square" anchor="t" lIns="0" rIns="0" tIns="0" bIns="0">
            <a:spAutoFit/>
          </a:bodyPr>
          <a:lstStyle/>
          <a:p>
            <a:pPr algn="l">
              <a:lnSpc>
                <a:spcPct val="110000"/>
              </a:lnSpc>
              <a:spcAft>
                <a:spcPts val="0"/>
              </a:spcAft>
            </a:pPr>
            <a:r>
              <a:rPr sz="1350" b="0" i="0">
                <a:solidFill>
                  <a:srgbClr val="0B142A"/>
                </a:solidFill>
                <a:latin typeface="Helvetica Neue"/>
              </a:rPr>
              <a:t>Create a purchase order</a:t>
            </a:r>
          </a:p>
        </p:txBody>
      </p:sp>
      <p:sp>
        <p:nvSpPr>
          <p:cNvPr id="24" name="TextBox 23"/>
          <p:cNvSpPr txBox="1"/>
          <p:nvPr/>
        </p:nvSpPr>
        <p:spPr>
          <a:xfrm>
            <a:off x="8778240" y="3785616"/>
            <a:ext cx="1737360" cy="365760"/>
          </a:xfrm>
          <a:prstGeom prst="rect">
            <a:avLst/>
          </a:prstGeom>
          <a:noFill/>
        </p:spPr>
        <p:txBody>
          <a:bodyPr wrap="square" anchor="t" lIns="0" rIns="0" tIns="0" bIns="0">
            <a:spAutoFit/>
          </a:bodyPr>
          <a:lstStyle/>
          <a:p>
            <a:pPr algn="ctr">
              <a:lnSpc>
                <a:spcPct val="100000"/>
              </a:lnSpc>
              <a:spcAft>
                <a:spcPts val="0"/>
              </a:spcAft>
            </a:pPr>
            <a:r>
              <a:rPr sz="1300" b="1" i="0">
                <a:solidFill>
                  <a:srgbClr val="9C3B2E"/>
                </a:solidFill>
                <a:latin typeface="Helvetica Neue"/>
              </a:rPr>
              <a:t>Blocked by platform</a:t>
            </a:r>
          </a:p>
        </p:txBody>
      </p:sp>
      <p:sp>
        <p:nvSpPr>
          <p:cNvPr id="25" name="TextBox 24"/>
          <p:cNvSpPr txBox="1"/>
          <p:nvPr/>
        </p:nvSpPr>
        <p:spPr>
          <a:xfrm>
            <a:off x="10515600" y="3785616"/>
            <a:ext cx="868680" cy="365760"/>
          </a:xfrm>
          <a:prstGeom prst="rect">
            <a:avLst/>
          </a:prstGeom>
          <a:noFill/>
        </p:spPr>
        <p:txBody>
          <a:bodyPr wrap="square" anchor="t" lIns="0" rIns="0" tIns="0" bIns="0">
            <a:spAutoFit/>
          </a:bodyPr>
          <a:lstStyle/>
          <a:p>
            <a:pPr algn="ctr">
              <a:lnSpc>
                <a:spcPct val="100000"/>
              </a:lnSpc>
              <a:spcAft>
                <a:spcPts val="0"/>
              </a:spcAft>
            </a:pPr>
            <a:r>
              <a:rPr sz="1350" b="0" i="0">
                <a:solidFill>
                  <a:srgbClr val="0B142A"/>
                </a:solidFill>
                <a:latin typeface="Helvetica Neue"/>
              </a:rPr>
              <a:t>4</a:t>
            </a:r>
          </a:p>
        </p:txBody>
      </p:sp>
      <p:sp>
        <p:nvSpPr>
          <p:cNvPr id="26" name="TextBox 25"/>
          <p:cNvSpPr txBox="1"/>
          <p:nvPr/>
        </p:nvSpPr>
        <p:spPr>
          <a:xfrm>
            <a:off x="11384280" y="3785616"/>
            <a:ext cx="914400" cy="365760"/>
          </a:xfrm>
          <a:prstGeom prst="rect">
            <a:avLst/>
          </a:prstGeom>
          <a:noFill/>
        </p:spPr>
        <p:txBody>
          <a:bodyPr wrap="square" anchor="t" lIns="0" rIns="0" tIns="0" bIns="0">
            <a:spAutoFit/>
          </a:bodyPr>
          <a:lstStyle/>
          <a:p>
            <a:pPr algn="ctr">
              <a:lnSpc>
                <a:spcPct val="100000"/>
              </a:lnSpc>
              <a:spcAft>
                <a:spcPts val="0"/>
              </a:spcAft>
            </a:pPr>
            <a:r>
              <a:rPr sz="1350" b="0" i="0">
                <a:solidFill>
                  <a:srgbClr val="0B142A"/>
                </a:solidFill>
                <a:latin typeface="Helvetica Neue"/>
              </a:rPr>
              <a:t>2</a:t>
            </a:r>
          </a:p>
        </p:txBody>
      </p:sp>
      <p:cxnSp>
        <p:nvCxnSpPr>
          <p:cNvPr id="27" name="Connector 26"/>
          <p:cNvCxnSpPr/>
          <p:nvPr/>
        </p:nvCxnSpPr>
        <p:spPr>
          <a:xfrm>
            <a:off x="4297680" y="4261104"/>
            <a:ext cx="7253935" cy="0"/>
          </a:xfrm>
          <a:prstGeom prst="line">
            <a:avLst/>
          </a:prstGeom>
          <a:ln w="762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297680" y="4407408"/>
            <a:ext cx="4480560" cy="548640"/>
          </a:xfrm>
          <a:prstGeom prst="rect">
            <a:avLst/>
          </a:prstGeom>
          <a:noFill/>
        </p:spPr>
        <p:txBody>
          <a:bodyPr wrap="square" anchor="t" lIns="0" rIns="0" tIns="0" bIns="0">
            <a:spAutoFit/>
          </a:bodyPr>
          <a:lstStyle/>
          <a:p>
            <a:pPr algn="l">
              <a:lnSpc>
                <a:spcPct val="110000"/>
              </a:lnSpc>
              <a:spcAft>
                <a:spcPts val="0"/>
              </a:spcAft>
            </a:pPr>
            <a:r>
              <a:rPr sz="1350" b="0" i="0">
                <a:solidFill>
                  <a:srgbClr val="0B142A"/>
                </a:solidFill>
                <a:latin typeface="Helvetica Neue"/>
              </a:rPr>
              <a:t>Summarize supplier invoices</a:t>
            </a:r>
          </a:p>
        </p:txBody>
      </p:sp>
      <p:sp>
        <p:nvSpPr>
          <p:cNvPr id="29" name="TextBox 28"/>
          <p:cNvSpPr txBox="1"/>
          <p:nvPr/>
        </p:nvSpPr>
        <p:spPr>
          <a:xfrm>
            <a:off x="8778240" y="4443984"/>
            <a:ext cx="1737360" cy="365760"/>
          </a:xfrm>
          <a:prstGeom prst="rect">
            <a:avLst/>
          </a:prstGeom>
          <a:noFill/>
        </p:spPr>
        <p:txBody>
          <a:bodyPr wrap="square" anchor="t" lIns="0" rIns="0" tIns="0" bIns="0">
            <a:spAutoFit/>
          </a:bodyPr>
          <a:lstStyle/>
          <a:p>
            <a:pPr algn="ctr">
              <a:lnSpc>
                <a:spcPct val="100000"/>
              </a:lnSpc>
              <a:spcAft>
                <a:spcPts val="0"/>
              </a:spcAft>
            </a:pPr>
            <a:r>
              <a:rPr sz="1300" b="1" i="0">
                <a:solidFill>
                  <a:srgbClr val="0E6B6B"/>
                </a:solidFill>
                <a:latin typeface="Helvetica Neue"/>
              </a:rPr>
              <a:t>Success</a:t>
            </a:r>
          </a:p>
        </p:txBody>
      </p:sp>
      <p:sp>
        <p:nvSpPr>
          <p:cNvPr id="30" name="TextBox 29"/>
          <p:cNvSpPr txBox="1"/>
          <p:nvPr/>
        </p:nvSpPr>
        <p:spPr>
          <a:xfrm>
            <a:off x="10515600" y="4443984"/>
            <a:ext cx="868680" cy="365760"/>
          </a:xfrm>
          <a:prstGeom prst="rect">
            <a:avLst/>
          </a:prstGeom>
          <a:noFill/>
        </p:spPr>
        <p:txBody>
          <a:bodyPr wrap="square" anchor="t" lIns="0" rIns="0" tIns="0" bIns="0">
            <a:spAutoFit/>
          </a:bodyPr>
          <a:lstStyle/>
          <a:p>
            <a:pPr algn="ctr">
              <a:lnSpc>
                <a:spcPct val="100000"/>
              </a:lnSpc>
              <a:spcAft>
                <a:spcPts val="0"/>
              </a:spcAft>
            </a:pPr>
            <a:r>
              <a:rPr sz="1350" b="0" i="0">
                <a:solidFill>
                  <a:srgbClr val="0B142A"/>
                </a:solidFill>
                <a:latin typeface="Helvetica Neue"/>
              </a:rPr>
              <a:t>6</a:t>
            </a:r>
          </a:p>
        </p:txBody>
      </p:sp>
      <p:sp>
        <p:nvSpPr>
          <p:cNvPr id="31" name="TextBox 30"/>
          <p:cNvSpPr txBox="1"/>
          <p:nvPr/>
        </p:nvSpPr>
        <p:spPr>
          <a:xfrm>
            <a:off x="11384280" y="4443984"/>
            <a:ext cx="914400" cy="365760"/>
          </a:xfrm>
          <a:prstGeom prst="rect">
            <a:avLst/>
          </a:prstGeom>
          <a:noFill/>
        </p:spPr>
        <p:txBody>
          <a:bodyPr wrap="square" anchor="t" lIns="0" rIns="0" tIns="0" bIns="0">
            <a:spAutoFit/>
          </a:bodyPr>
          <a:lstStyle/>
          <a:p>
            <a:pPr algn="ctr">
              <a:lnSpc>
                <a:spcPct val="100000"/>
              </a:lnSpc>
              <a:spcAft>
                <a:spcPts val="0"/>
              </a:spcAft>
            </a:pPr>
            <a:r>
              <a:rPr sz="1350" b="0" i="0">
                <a:solidFill>
                  <a:srgbClr val="0B142A"/>
                </a:solidFill>
                <a:latin typeface="Helvetica Neue"/>
              </a:rPr>
              <a:t>4</a:t>
            </a:r>
          </a:p>
        </p:txBody>
      </p:sp>
      <p:cxnSp>
        <p:nvCxnSpPr>
          <p:cNvPr id="32" name="Connector 31"/>
          <p:cNvCxnSpPr/>
          <p:nvPr/>
        </p:nvCxnSpPr>
        <p:spPr>
          <a:xfrm>
            <a:off x="4297680" y="4919472"/>
            <a:ext cx="7253935" cy="0"/>
          </a:xfrm>
          <a:prstGeom prst="line">
            <a:avLst/>
          </a:prstGeom>
          <a:ln w="762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297680" y="5065776"/>
            <a:ext cx="4480560" cy="548640"/>
          </a:xfrm>
          <a:prstGeom prst="rect">
            <a:avLst/>
          </a:prstGeom>
          <a:noFill/>
        </p:spPr>
        <p:txBody>
          <a:bodyPr wrap="square" anchor="t" lIns="0" rIns="0" tIns="0" bIns="0">
            <a:spAutoFit/>
          </a:bodyPr>
          <a:lstStyle/>
          <a:p>
            <a:pPr algn="l">
              <a:lnSpc>
                <a:spcPct val="110000"/>
              </a:lnSpc>
              <a:spcAft>
                <a:spcPts val="0"/>
              </a:spcAft>
            </a:pPr>
            <a:r>
              <a:rPr sz="1350" b="0" i="0">
                <a:solidFill>
                  <a:srgbClr val="0B142A"/>
                </a:solidFill>
                <a:latin typeface="Helvetica Neue"/>
              </a:rPr>
              <a:t>Report a product's base unit and type</a:t>
            </a:r>
          </a:p>
        </p:txBody>
      </p:sp>
      <p:sp>
        <p:nvSpPr>
          <p:cNvPr id="34" name="TextBox 33"/>
          <p:cNvSpPr txBox="1"/>
          <p:nvPr/>
        </p:nvSpPr>
        <p:spPr>
          <a:xfrm>
            <a:off x="8778240" y="5102352"/>
            <a:ext cx="1737360" cy="365760"/>
          </a:xfrm>
          <a:prstGeom prst="rect">
            <a:avLst/>
          </a:prstGeom>
          <a:noFill/>
        </p:spPr>
        <p:txBody>
          <a:bodyPr wrap="square" anchor="t" lIns="0" rIns="0" tIns="0" bIns="0">
            <a:spAutoFit/>
          </a:bodyPr>
          <a:lstStyle/>
          <a:p>
            <a:pPr algn="ctr">
              <a:lnSpc>
                <a:spcPct val="100000"/>
              </a:lnSpc>
              <a:spcAft>
                <a:spcPts val="0"/>
              </a:spcAft>
            </a:pPr>
            <a:r>
              <a:rPr sz="1300" b="1" i="0">
                <a:solidFill>
                  <a:srgbClr val="0E6B6B"/>
                </a:solidFill>
                <a:latin typeface="Helvetica Neue"/>
              </a:rPr>
              <a:t>Success</a:t>
            </a:r>
          </a:p>
        </p:txBody>
      </p:sp>
      <p:sp>
        <p:nvSpPr>
          <p:cNvPr id="35" name="TextBox 34"/>
          <p:cNvSpPr txBox="1"/>
          <p:nvPr/>
        </p:nvSpPr>
        <p:spPr>
          <a:xfrm>
            <a:off x="10515600" y="5102352"/>
            <a:ext cx="868680" cy="365760"/>
          </a:xfrm>
          <a:prstGeom prst="rect">
            <a:avLst/>
          </a:prstGeom>
          <a:noFill/>
        </p:spPr>
        <p:txBody>
          <a:bodyPr wrap="square" anchor="t" lIns="0" rIns="0" tIns="0" bIns="0">
            <a:spAutoFit/>
          </a:bodyPr>
          <a:lstStyle/>
          <a:p>
            <a:pPr algn="ctr">
              <a:lnSpc>
                <a:spcPct val="100000"/>
              </a:lnSpc>
              <a:spcAft>
                <a:spcPts val="0"/>
              </a:spcAft>
            </a:pPr>
            <a:r>
              <a:rPr sz="1350" b="0" i="0">
                <a:solidFill>
                  <a:srgbClr val="0B142A"/>
                </a:solidFill>
                <a:latin typeface="Helvetica Neue"/>
              </a:rPr>
              <a:t>6</a:t>
            </a:r>
          </a:p>
        </p:txBody>
      </p:sp>
      <p:sp>
        <p:nvSpPr>
          <p:cNvPr id="36" name="TextBox 35"/>
          <p:cNvSpPr txBox="1"/>
          <p:nvPr/>
        </p:nvSpPr>
        <p:spPr>
          <a:xfrm>
            <a:off x="11384280" y="5102352"/>
            <a:ext cx="914400" cy="365760"/>
          </a:xfrm>
          <a:prstGeom prst="rect">
            <a:avLst/>
          </a:prstGeom>
          <a:noFill/>
        </p:spPr>
        <p:txBody>
          <a:bodyPr wrap="square" anchor="t" lIns="0" rIns="0" tIns="0" bIns="0">
            <a:spAutoFit/>
          </a:bodyPr>
          <a:lstStyle/>
          <a:p>
            <a:pPr algn="ctr">
              <a:lnSpc>
                <a:spcPct val="100000"/>
              </a:lnSpc>
              <a:spcAft>
                <a:spcPts val="0"/>
              </a:spcAft>
            </a:pPr>
            <a:r>
              <a:rPr sz="1350" b="0" i="0">
                <a:solidFill>
                  <a:srgbClr val="0B142A"/>
                </a:solidFill>
                <a:latin typeface="Helvetica Neue"/>
              </a:rPr>
              <a:t>4</a:t>
            </a:r>
          </a:p>
        </p:txBody>
      </p:sp>
      <p:cxnSp>
        <p:nvCxnSpPr>
          <p:cNvPr id="37" name="Connector 36"/>
          <p:cNvCxnSpPr/>
          <p:nvPr/>
        </p:nvCxnSpPr>
        <p:spPr>
          <a:xfrm>
            <a:off x="4297680" y="5577840"/>
            <a:ext cx="7253935" cy="0"/>
          </a:xfrm>
          <a:prstGeom prst="line">
            <a:avLst/>
          </a:prstGeom>
          <a:ln w="762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640080" y="5806440"/>
            <a:ext cx="6217920" cy="548640"/>
          </a:xfrm>
          <a:prstGeom prst="rect">
            <a:avLst/>
          </a:prstGeom>
          <a:noFill/>
        </p:spPr>
        <p:txBody>
          <a:bodyPr wrap="square" anchor="t" lIns="0" rIns="0" tIns="0" bIns="0">
            <a:spAutoFit/>
          </a:bodyPr>
          <a:lstStyle/>
          <a:p>
            <a:pPr algn="l">
              <a:lnSpc>
                <a:spcPct val="100000"/>
              </a:lnSpc>
              <a:spcAft>
                <a:spcPts val="0"/>
              </a:spcAft>
            </a:pPr>
            <a:r>
              <a:rPr sz="1300" b="0" i="1">
                <a:solidFill>
                  <a:srgbClr val="6B7280"/>
                </a:solidFill>
                <a:latin typeface="Helvetica Neue"/>
              </a:rPr>
              <a:t>The fifth task was blocked by platform policy, not agent failure</a:t>
            </a:r>
          </a:p>
        </p:txBody>
      </p:sp>
      <p:sp>
        <p:nvSpPr>
          <p:cNvPr id="39" name="TextBox 38"/>
          <p:cNvSpPr txBox="1"/>
          <p:nvPr/>
        </p:nvSpPr>
        <p:spPr>
          <a:xfrm>
            <a:off x="640080" y="6492240"/>
            <a:ext cx="5486400" cy="274320"/>
          </a:xfrm>
          <a:prstGeom prst="rect">
            <a:avLst/>
          </a:prstGeom>
          <a:noFill/>
        </p:spPr>
        <p:txBody>
          <a:bodyPr wrap="square" anchor="t" lIns="0" rIns="0" tIns="0" bIns="0">
            <a:spAutoFit/>
          </a:bodyPr>
          <a:lstStyle/>
          <a:p>
            <a:pPr algn="l">
              <a:lnSpc>
                <a:spcPct val="100000"/>
              </a:lnSpc>
              <a:spcAft>
                <a:spcPts val="0"/>
              </a:spcAft>
            </a:pPr>
            <a:r>
              <a:rPr sz="950" b="0" i="0">
                <a:solidFill>
                  <a:srgbClr val="6B7280"/>
                </a:solidFill>
                <a:latin typeface="Helvetica Neue"/>
              </a:rPr>
              <a:t>Can an AI agent operate an ERP? — July 2026 study</a:t>
            </a:r>
          </a:p>
        </p:txBody>
      </p:sp>
      <p:sp>
        <p:nvSpPr>
          <p:cNvPr id="40" name="TextBox 39"/>
          <p:cNvSpPr txBox="1"/>
          <p:nvPr/>
        </p:nvSpPr>
        <p:spPr>
          <a:xfrm>
            <a:off x="10180015" y="6492240"/>
            <a:ext cx="1371600" cy="274320"/>
          </a:xfrm>
          <a:prstGeom prst="rect">
            <a:avLst/>
          </a:prstGeom>
          <a:noFill/>
        </p:spPr>
        <p:txBody>
          <a:bodyPr wrap="square" anchor="t" lIns="0" rIns="0" tIns="0" bIns="0">
            <a:spAutoFit/>
          </a:bodyPr>
          <a:lstStyle/>
          <a:p>
            <a:pPr algn="r">
              <a:lnSpc>
                <a:spcPct val="100000"/>
              </a:lnSpc>
              <a:spcAft>
                <a:spcPts val="0"/>
              </a:spcAft>
            </a:pPr>
            <a:r>
              <a:rPr sz="950" b="0" i="0">
                <a:solidFill>
                  <a:srgbClr val="6B7280"/>
                </a:solidFill>
                <a:latin typeface="Helvetica Neue"/>
              </a:rPr>
              <a:t>05 / 11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7315200" cy="320040"/>
          </a:xfrm>
          <a:prstGeom prst="rect">
            <a:avLst/>
          </a:prstGeom>
          <a:noFill/>
        </p:spPr>
        <p:txBody>
          <a:bodyPr wrap="square" anchor="t" lIns="0" rIns="0" tIns="0" bIns="0">
            <a:spAutoFit/>
          </a:bodyPr>
          <a:lstStyle/>
          <a:p>
            <a:pPr algn="l">
              <a:lnSpc>
                <a:spcPct val="100000"/>
              </a:lnSpc>
              <a:spcAft>
                <a:spcPts val="0"/>
              </a:spcAft>
            </a:pPr>
            <a:r>
              <a:rPr sz="1250" b="1" i="0">
                <a:solidFill>
                  <a:srgbClr val="0E6B6B"/>
                </a:solidFill>
                <a:latin typeface="Helvetica Neue"/>
              </a:rPr>
              <a:t>MODEL COMPARISON</a:t>
            </a:r>
          </a:p>
        </p:txBody>
      </p:sp>
      <p:sp>
        <p:nvSpPr>
          <p:cNvPr id="3" name="TextBox 2"/>
          <p:cNvSpPr txBox="1"/>
          <p:nvPr/>
        </p:nvSpPr>
        <p:spPr>
          <a:xfrm>
            <a:off x="640080" y="749808"/>
            <a:ext cx="10881360" cy="822960"/>
          </a:xfrm>
          <a:prstGeom prst="rect">
            <a:avLst/>
          </a:prstGeom>
          <a:noFill/>
        </p:spPr>
        <p:txBody>
          <a:bodyPr wrap="square" anchor="t" lIns="0" rIns="0" tIns="0" bIns="0">
            <a:spAutoFit/>
          </a:bodyPr>
          <a:lstStyle/>
          <a:p>
            <a:pPr algn="l">
              <a:lnSpc>
                <a:spcPct val="100000"/>
              </a:lnSpc>
              <a:spcAft>
                <a:spcPts val="0"/>
              </a:spcAft>
            </a:pPr>
            <a:r>
              <a:rPr sz="3000" b="1" i="0">
                <a:solidFill>
                  <a:srgbClr val="0B142A"/>
                </a:solidFill>
                <a:latin typeface="Georgia"/>
              </a:rPr>
              <a:t>Does a smarter brain fix it?</a:t>
            </a:r>
          </a:p>
        </p:txBody>
      </p:sp>
      <p:cxnSp>
        <p:nvCxnSpPr>
          <p:cNvPr id="4" name="Connector 3"/>
          <p:cNvCxnSpPr/>
          <p:nvPr/>
        </p:nvCxnSpPr>
        <p:spPr>
          <a:xfrm>
            <a:off x="640080" y="1481328"/>
            <a:ext cx="10911535" cy="0"/>
          </a:xfrm>
          <a:prstGeom prst="line">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691640"/>
            <a:ext cx="10881360" cy="548640"/>
          </a:xfrm>
          <a:prstGeom prst="rect">
            <a:avLst/>
          </a:prstGeom>
          <a:noFill/>
        </p:spPr>
        <p:txBody>
          <a:bodyPr wrap="square" anchor="t" lIns="0" rIns="0" tIns="0" bIns="0">
            <a:spAutoFit/>
          </a:bodyPr>
          <a:lstStyle/>
          <a:p>
            <a:pPr algn="l">
              <a:lnSpc>
                <a:spcPct val="125000"/>
              </a:lnSpc>
              <a:spcAft>
                <a:spcPts val="0"/>
              </a:spcAft>
            </a:pPr>
            <a:r>
              <a:rPr sz="1500" b="0" i="0">
                <a:solidFill>
                  <a:srgbClr val="0B142A"/>
                </a:solidFill>
                <a:latin typeface="Helvetica Neue"/>
              </a:rPr>
              <a:t>The same five tasks, repeated with a frontier model and a strong open source model, same harness, same tools, same logging.</a:t>
            </a:r>
          </a:p>
        </p:txBody>
      </p:sp>
      <p:cxnSp>
        <p:nvCxnSpPr>
          <p:cNvPr id="6" name="Connector 5"/>
          <p:cNvCxnSpPr/>
          <p:nvPr/>
        </p:nvCxnSpPr>
        <p:spPr>
          <a:xfrm>
            <a:off x="640080" y="2240280"/>
            <a:ext cx="10911535" cy="0"/>
          </a:xfrm>
          <a:prstGeom prst="line">
            <a:avLst/>
          </a:prstGeom>
          <a:ln w="15875">
            <a:solidFill>
              <a:srgbClr val="0B142A"/>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2313432"/>
            <a:ext cx="3291840" cy="411480"/>
          </a:xfrm>
          <a:prstGeom prst="rect">
            <a:avLst/>
          </a:prstGeom>
          <a:noFill/>
        </p:spPr>
        <p:txBody>
          <a:bodyPr wrap="square" anchor="t" lIns="0" rIns="0" tIns="0" bIns="0">
            <a:spAutoFit/>
          </a:bodyPr>
          <a:lstStyle/>
          <a:p>
            <a:pPr algn="l">
              <a:lnSpc>
                <a:spcPct val="105000"/>
              </a:lnSpc>
              <a:spcAft>
                <a:spcPts val="0"/>
              </a:spcAft>
            </a:pPr>
            <a:r>
              <a:rPr sz="1200" b="1" i="0">
                <a:solidFill>
                  <a:srgbClr val="6B7280"/>
                </a:solidFill>
                <a:latin typeface="Helvetica Neue"/>
              </a:rPr>
              <a:t>Task</a:t>
            </a:r>
          </a:p>
        </p:txBody>
      </p:sp>
      <p:sp>
        <p:nvSpPr>
          <p:cNvPr id="8" name="TextBox 7"/>
          <p:cNvSpPr txBox="1"/>
          <p:nvPr/>
        </p:nvSpPr>
        <p:spPr>
          <a:xfrm>
            <a:off x="3931920" y="2313432"/>
            <a:ext cx="2539898" cy="411480"/>
          </a:xfrm>
          <a:prstGeom prst="rect">
            <a:avLst/>
          </a:prstGeom>
          <a:noFill/>
        </p:spPr>
        <p:txBody>
          <a:bodyPr wrap="square" anchor="t" lIns="0" rIns="0" tIns="0" bIns="0">
            <a:spAutoFit/>
          </a:bodyPr>
          <a:lstStyle/>
          <a:p>
            <a:pPr algn="ctr">
              <a:lnSpc>
                <a:spcPct val="105000"/>
              </a:lnSpc>
              <a:spcAft>
                <a:spcPts val="0"/>
              </a:spcAft>
            </a:pPr>
            <a:r>
              <a:rPr sz="1200" b="1" i="0">
                <a:solidFill>
                  <a:srgbClr val="6B7280"/>
                </a:solidFill>
                <a:latin typeface="Helvetica Neue"/>
              </a:rPr>
              <a:t>GPT-4o mini (small)</a:t>
            </a:r>
          </a:p>
        </p:txBody>
      </p:sp>
      <p:sp>
        <p:nvSpPr>
          <p:cNvPr id="9" name="TextBox 8"/>
          <p:cNvSpPr txBox="1"/>
          <p:nvPr/>
        </p:nvSpPr>
        <p:spPr>
          <a:xfrm>
            <a:off x="6471818" y="2313432"/>
            <a:ext cx="2539898" cy="411480"/>
          </a:xfrm>
          <a:prstGeom prst="rect">
            <a:avLst/>
          </a:prstGeom>
          <a:noFill/>
        </p:spPr>
        <p:txBody>
          <a:bodyPr wrap="square" anchor="t" lIns="0" rIns="0" tIns="0" bIns="0">
            <a:spAutoFit/>
          </a:bodyPr>
          <a:lstStyle/>
          <a:p>
            <a:pPr algn="ctr">
              <a:lnSpc>
                <a:spcPct val="105000"/>
              </a:lnSpc>
              <a:spcAft>
                <a:spcPts val="0"/>
              </a:spcAft>
            </a:pPr>
            <a:r>
              <a:rPr sz="1200" b="1" i="0">
                <a:solidFill>
                  <a:srgbClr val="6B7280"/>
                </a:solidFill>
                <a:latin typeface="Helvetica Neue"/>
              </a:rPr>
              <a:t>GPT-4.1 (frontier)</a:t>
            </a:r>
          </a:p>
        </p:txBody>
      </p:sp>
      <p:sp>
        <p:nvSpPr>
          <p:cNvPr id="10" name="TextBox 9"/>
          <p:cNvSpPr txBox="1"/>
          <p:nvPr/>
        </p:nvSpPr>
        <p:spPr>
          <a:xfrm>
            <a:off x="9011716" y="2313432"/>
            <a:ext cx="2539898" cy="411480"/>
          </a:xfrm>
          <a:prstGeom prst="rect">
            <a:avLst/>
          </a:prstGeom>
          <a:noFill/>
        </p:spPr>
        <p:txBody>
          <a:bodyPr wrap="square" anchor="t" lIns="0" rIns="0" tIns="0" bIns="0">
            <a:spAutoFit/>
          </a:bodyPr>
          <a:lstStyle/>
          <a:p>
            <a:pPr algn="ctr">
              <a:lnSpc>
                <a:spcPct val="105000"/>
              </a:lnSpc>
              <a:spcAft>
                <a:spcPts val="0"/>
              </a:spcAft>
            </a:pPr>
            <a:r>
              <a:rPr sz="1200" b="1" i="0">
                <a:solidFill>
                  <a:srgbClr val="6B7280"/>
                </a:solidFill>
                <a:latin typeface="Helvetica Neue"/>
              </a:rPr>
              <a:t>Llama 4 Maverick (open)</a:t>
            </a:r>
          </a:p>
        </p:txBody>
      </p:sp>
      <p:cxnSp>
        <p:nvCxnSpPr>
          <p:cNvPr id="11" name="Connector 10"/>
          <p:cNvCxnSpPr/>
          <p:nvPr/>
        </p:nvCxnSpPr>
        <p:spPr>
          <a:xfrm>
            <a:off x="640080" y="2788920"/>
            <a:ext cx="10911535" cy="0"/>
          </a:xfrm>
          <a:prstGeom prst="line">
            <a:avLst/>
          </a:prstGeom>
          <a:ln w="12700">
            <a:solidFill>
              <a:srgbClr val="0B142A"/>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0080" y="2898648"/>
            <a:ext cx="3291840" cy="365760"/>
          </a:xfrm>
          <a:prstGeom prst="rect">
            <a:avLst/>
          </a:prstGeom>
          <a:noFill/>
        </p:spPr>
        <p:txBody>
          <a:bodyPr wrap="square" anchor="t" lIns="0" rIns="0" tIns="0" bIns="0">
            <a:spAutoFit/>
          </a:bodyPr>
          <a:lstStyle/>
          <a:p>
            <a:pPr algn="l">
              <a:lnSpc>
                <a:spcPct val="100000"/>
              </a:lnSpc>
              <a:spcAft>
                <a:spcPts val="0"/>
              </a:spcAft>
            </a:pPr>
            <a:r>
              <a:rPr sz="1300" b="0" i="0">
                <a:solidFill>
                  <a:srgbClr val="0B142A"/>
                </a:solidFill>
                <a:latin typeface="Helvetica Neue"/>
              </a:rPr>
              <a:t>Find a supplier</a:t>
            </a:r>
          </a:p>
        </p:txBody>
      </p:sp>
      <p:sp>
        <p:nvSpPr>
          <p:cNvPr id="13" name="TextBox 12"/>
          <p:cNvSpPr txBox="1"/>
          <p:nvPr/>
        </p:nvSpPr>
        <p:spPr>
          <a:xfrm>
            <a:off x="3931920" y="2898648"/>
            <a:ext cx="2539898" cy="365760"/>
          </a:xfrm>
          <a:prstGeom prst="rect">
            <a:avLst/>
          </a:prstGeom>
          <a:noFill/>
        </p:spPr>
        <p:txBody>
          <a:bodyPr wrap="square" anchor="t" lIns="0" rIns="0" tIns="0" bIns="0">
            <a:spAutoFit/>
          </a:bodyPr>
          <a:lstStyle/>
          <a:p>
            <a:pPr algn="ctr">
              <a:lnSpc>
                <a:spcPct val="100000"/>
              </a:lnSpc>
              <a:spcAft>
                <a:spcPts val="0"/>
              </a:spcAft>
            </a:pPr>
            <a:r>
              <a:rPr sz="1300" b="0" i="0">
                <a:solidFill>
                  <a:srgbClr val="0B142A"/>
                </a:solidFill>
                <a:latin typeface="Helvetica Neue"/>
              </a:rPr>
              <a:t>success, 11 calls</a:t>
            </a:r>
          </a:p>
        </p:txBody>
      </p:sp>
      <p:sp>
        <p:nvSpPr>
          <p:cNvPr id="14" name="TextBox 13"/>
          <p:cNvSpPr txBox="1"/>
          <p:nvPr/>
        </p:nvSpPr>
        <p:spPr>
          <a:xfrm>
            <a:off x="6471818" y="2898648"/>
            <a:ext cx="2539898" cy="365760"/>
          </a:xfrm>
          <a:prstGeom prst="rect">
            <a:avLst/>
          </a:prstGeom>
          <a:noFill/>
        </p:spPr>
        <p:txBody>
          <a:bodyPr wrap="square" anchor="t" lIns="0" rIns="0" tIns="0" bIns="0">
            <a:spAutoFit/>
          </a:bodyPr>
          <a:lstStyle/>
          <a:p>
            <a:pPr algn="ctr">
              <a:lnSpc>
                <a:spcPct val="100000"/>
              </a:lnSpc>
              <a:spcAft>
                <a:spcPts val="0"/>
              </a:spcAft>
            </a:pPr>
            <a:r>
              <a:rPr sz="1300" b="0" i="0">
                <a:solidFill>
                  <a:srgbClr val="0B142A"/>
                </a:solidFill>
                <a:latin typeface="Helvetica Neue"/>
              </a:rPr>
              <a:t>success, 1 call</a:t>
            </a:r>
          </a:p>
        </p:txBody>
      </p:sp>
      <p:sp>
        <p:nvSpPr>
          <p:cNvPr id="15" name="TextBox 14"/>
          <p:cNvSpPr txBox="1"/>
          <p:nvPr/>
        </p:nvSpPr>
        <p:spPr>
          <a:xfrm>
            <a:off x="9011716" y="2898648"/>
            <a:ext cx="2539898" cy="365760"/>
          </a:xfrm>
          <a:prstGeom prst="rect">
            <a:avLst/>
          </a:prstGeom>
          <a:noFill/>
        </p:spPr>
        <p:txBody>
          <a:bodyPr wrap="square" anchor="t" lIns="0" rIns="0" tIns="0" bIns="0">
            <a:spAutoFit/>
          </a:bodyPr>
          <a:lstStyle/>
          <a:p>
            <a:pPr algn="ctr">
              <a:lnSpc>
                <a:spcPct val="100000"/>
              </a:lnSpc>
              <a:spcAft>
                <a:spcPts val="0"/>
              </a:spcAft>
            </a:pPr>
            <a:r>
              <a:rPr sz="1300" b="0" i="0">
                <a:solidFill>
                  <a:srgbClr val="9C3B2E"/>
                </a:solidFill>
                <a:latin typeface="Helvetica Neue"/>
              </a:rPr>
              <a:t>gave up, 3 calls</a:t>
            </a:r>
          </a:p>
        </p:txBody>
      </p:sp>
      <p:cxnSp>
        <p:nvCxnSpPr>
          <p:cNvPr id="16" name="Connector 15"/>
          <p:cNvCxnSpPr/>
          <p:nvPr/>
        </p:nvCxnSpPr>
        <p:spPr>
          <a:xfrm>
            <a:off x="640080" y="3227832"/>
            <a:ext cx="10911535" cy="0"/>
          </a:xfrm>
          <a:prstGeom prst="line">
            <a:avLst/>
          </a:prstGeom>
          <a:ln w="762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40080" y="3337560"/>
            <a:ext cx="3291840" cy="365760"/>
          </a:xfrm>
          <a:prstGeom prst="rect">
            <a:avLst/>
          </a:prstGeom>
          <a:noFill/>
        </p:spPr>
        <p:txBody>
          <a:bodyPr wrap="square" anchor="t" lIns="0" rIns="0" tIns="0" bIns="0">
            <a:spAutoFit/>
          </a:bodyPr>
          <a:lstStyle/>
          <a:p>
            <a:pPr algn="l">
              <a:lnSpc>
                <a:spcPct val="100000"/>
              </a:lnSpc>
              <a:spcAft>
                <a:spcPts val="0"/>
              </a:spcAft>
            </a:pPr>
            <a:r>
              <a:rPr sz="1300" b="0" i="0">
                <a:solidFill>
                  <a:srgbClr val="0B142A"/>
                </a:solidFill>
                <a:latin typeface="Helvetica Neue"/>
              </a:rPr>
              <a:t>List purchase orders</a:t>
            </a:r>
          </a:p>
        </p:txBody>
      </p:sp>
      <p:sp>
        <p:nvSpPr>
          <p:cNvPr id="18" name="TextBox 17"/>
          <p:cNvSpPr txBox="1"/>
          <p:nvPr/>
        </p:nvSpPr>
        <p:spPr>
          <a:xfrm>
            <a:off x="3931920" y="3337560"/>
            <a:ext cx="2539898" cy="365760"/>
          </a:xfrm>
          <a:prstGeom prst="rect">
            <a:avLst/>
          </a:prstGeom>
          <a:noFill/>
        </p:spPr>
        <p:txBody>
          <a:bodyPr wrap="square" anchor="t" lIns="0" rIns="0" tIns="0" bIns="0">
            <a:spAutoFit/>
          </a:bodyPr>
          <a:lstStyle/>
          <a:p>
            <a:pPr algn="ctr">
              <a:lnSpc>
                <a:spcPct val="100000"/>
              </a:lnSpc>
              <a:spcAft>
                <a:spcPts val="0"/>
              </a:spcAft>
            </a:pPr>
            <a:r>
              <a:rPr sz="1300" b="0" i="0">
                <a:solidFill>
                  <a:srgbClr val="0B142A"/>
                </a:solidFill>
                <a:latin typeface="Helvetica Neue"/>
              </a:rPr>
              <a:t>success</a:t>
            </a:r>
          </a:p>
        </p:txBody>
      </p:sp>
      <p:sp>
        <p:nvSpPr>
          <p:cNvPr id="19" name="TextBox 18"/>
          <p:cNvSpPr txBox="1"/>
          <p:nvPr/>
        </p:nvSpPr>
        <p:spPr>
          <a:xfrm>
            <a:off x="6471818" y="3337560"/>
            <a:ext cx="2539898" cy="365760"/>
          </a:xfrm>
          <a:prstGeom prst="rect">
            <a:avLst/>
          </a:prstGeom>
          <a:noFill/>
        </p:spPr>
        <p:txBody>
          <a:bodyPr wrap="square" anchor="t" lIns="0" rIns="0" tIns="0" bIns="0">
            <a:spAutoFit/>
          </a:bodyPr>
          <a:lstStyle/>
          <a:p>
            <a:pPr algn="ctr">
              <a:lnSpc>
                <a:spcPct val="100000"/>
              </a:lnSpc>
              <a:spcAft>
                <a:spcPts val="0"/>
              </a:spcAft>
            </a:pPr>
            <a:r>
              <a:rPr sz="1300" b="0" i="0">
                <a:solidFill>
                  <a:srgbClr val="0B142A"/>
                </a:solidFill>
                <a:latin typeface="Helvetica Neue"/>
              </a:rPr>
              <a:t>success</a:t>
            </a:r>
          </a:p>
        </p:txBody>
      </p:sp>
      <p:sp>
        <p:nvSpPr>
          <p:cNvPr id="20" name="TextBox 19"/>
          <p:cNvSpPr txBox="1"/>
          <p:nvPr/>
        </p:nvSpPr>
        <p:spPr>
          <a:xfrm>
            <a:off x="9011716" y="3337560"/>
            <a:ext cx="2539898" cy="365760"/>
          </a:xfrm>
          <a:prstGeom prst="rect">
            <a:avLst/>
          </a:prstGeom>
          <a:noFill/>
        </p:spPr>
        <p:txBody>
          <a:bodyPr wrap="square" anchor="t" lIns="0" rIns="0" tIns="0" bIns="0">
            <a:spAutoFit/>
          </a:bodyPr>
          <a:lstStyle/>
          <a:p>
            <a:pPr algn="ctr">
              <a:lnSpc>
                <a:spcPct val="100000"/>
              </a:lnSpc>
              <a:spcAft>
                <a:spcPts val="0"/>
              </a:spcAft>
            </a:pPr>
            <a:r>
              <a:rPr sz="1300" b="0" i="0">
                <a:solidFill>
                  <a:srgbClr val="0B142A"/>
                </a:solidFill>
                <a:latin typeface="Helvetica Neue"/>
              </a:rPr>
              <a:t>success</a:t>
            </a:r>
          </a:p>
        </p:txBody>
      </p:sp>
      <p:cxnSp>
        <p:nvCxnSpPr>
          <p:cNvPr id="21" name="Connector 20"/>
          <p:cNvCxnSpPr/>
          <p:nvPr/>
        </p:nvCxnSpPr>
        <p:spPr>
          <a:xfrm>
            <a:off x="640080" y="3666744"/>
            <a:ext cx="10911535" cy="0"/>
          </a:xfrm>
          <a:prstGeom prst="line">
            <a:avLst/>
          </a:prstGeom>
          <a:ln w="762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40080" y="3776472"/>
            <a:ext cx="3291840" cy="365760"/>
          </a:xfrm>
          <a:prstGeom prst="rect">
            <a:avLst/>
          </a:prstGeom>
          <a:noFill/>
        </p:spPr>
        <p:txBody>
          <a:bodyPr wrap="square" anchor="t" lIns="0" rIns="0" tIns="0" bIns="0">
            <a:spAutoFit/>
          </a:bodyPr>
          <a:lstStyle/>
          <a:p>
            <a:pPr algn="l">
              <a:lnSpc>
                <a:spcPct val="100000"/>
              </a:lnSpc>
              <a:spcAft>
                <a:spcPts val="0"/>
              </a:spcAft>
            </a:pPr>
            <a:r>
              <a:rPr sz="1300" b="0" i="0">
                <a:solidFill>
                  <a:srgbClr val="0B142A"/>
                </a:solidFill>
                <a:latin typeface="Helvetica Neue"/>
              </a:rPr>
              <a:t>Create a purchase order</a:t>
            </a:r>
          </a:p>
        </p:txBody>
      </p:sp>
      <p:sp>
        <p:nvSpPr>
          <p:cNvPr id="23" name="TextBox 22"/>
          <p:cNvSpPr txBox="1"/>
          <p:nvPr/>
        </p:nvSpPr>
        <p:spPr>
          <a:xfrm>
            <a:off x="3931920" y="3776472"/>
            <a:ext cx="2539898" cy="365760"/>
          </a:xfrm>
          <a:prstGeom prst="rect">
            <a:avLst/>
          </a:prstGeom>
          <a:noFill/>
        </p:spPr>
        <p:txBody>
          <a:bodyPr wrap="square" anchor="t" lIns="0" rIns="0" tIns="0" bIns="0">
            <a:spAutoFit/>
          </a:bodyPr>
          <a:lstStyle/>
          <a:p>
            <a:pPr algn="ctr">
              <a:lnSpc>
                <a:spcPct val="100000"/>
              </a:lnSpc>
              <a:spcAft>
                <a:spcPts val="0"/>
              </a:spcAft>
            </a:pPr>
            <a:r>
              <a:rPr sz="1300" b="0" i="0">
                <a:solidFill>
                  <a:srgbClr val="9C3B2E"/>
                </a:solidFill>
                <a:latin typeface="Helvetica Neue"/>
              </a:rPr>
              <a:t>blocked, 405</a:t>
            </a:r>
          </a:p>
        </p:txBody>
      </p:sp>
      <p:sp>
        <p:nvSpPr>
          <p:cNvPr id="24" name="TextBox 23"/>
          <p:cNvSpPr txBox="1"/>
          <p:nvPr/>
        </p:nvSpPr>
        <p:spPr>
          <a:xfrm>
            <a:off x="6471818" y="3776472"/>
            <a:ext cx="2539898" cy="365760"/>
          </a:xfrm>
          <a:prstGeom prst="rect">
            <a:avLst/>
          </a:prstGeom>
          <a:noFill/>
        </p:spPr>
        <p:txBody>
          <a:bodyPr wrap="square" anchor="t" lIns="0" rIns="0" tIns="0" bIns="0">
            <a:spAutoFit/>
          </a:bodyPr>
          <a:lstStyle/>
          <a:p>
            <a:pPr algn="ctr">
              <a:lnSpc>
                <a:spcPct val="100000"/>
              </a:lnSpc>
              <a:spcAft>
                <a:spcPts val="0"/>
              </a:spcAft>
            </a:pPr>
            <a:r>
              <a:rPr sz="1300" b="0" i="0">
                <a:solidFill>
                  <a:srgbClr val="9C3B2E"/>
                </a:solidFill>
                <a:latin typeface="Helvetica Neue"/>
              </a:rPr>
              <a:t>blocked, 405</a:t>
            </a:r>
          </a:p>
        </p:txBody>
      </p:sp>
      <p:sp>
        <p:nvSpPr>
          <p:cNvPr id="25" name="TextBox 24"/>
          <p:cNvSpPr txBox="1"/>
          <p:nvPr/>
        </p:nvSpPr>
        <p:spPr>
          <a:xfrm>
            <a:off x="9011716" y="3776472"/>
            <a:ext cx="2539898" cy="365760"/>
          </a:xfrm>
          <a:prstGeom prst="rect">
            <a:avLst/>
          </a:prstGeom>
          <a:noFill/>
        </p:spPr>
        <p:txBody>
          <a:bodyPr wrap="square" anchor="t" lIns="0" rIns="0" tIns="0" bIns="0">
            <a:spAutoFit/>
          </a:bodyPr>
          <a:lstStyle/>
          <a:p>
            <a:pPr algn="ctr">
              <a:lnSpc>
                <a:spcPct val="100000"/>
              </a:lnSpc>
              <a:spcAft>
                <a:spcPts val="0"/>
              </a:spcAft>
            </a:pPr>
            <a:r>
              <a:rPr sz="1300" b="0" i="0">
                <a:solidFill>
                  <a:srgbClr val="9C3B2E"/>
                </a:solidFill>
                <a:latin typeface="Helvetica Neue"/>
              </a:rPr>
              <a:t>blocked, 405</a:t>
            </a:r>
          </a:p>
        </p:txBody>
      </p:sp>
      <p:cxnSp>
        <p:nvCxnSpPr>
          <p:cNvPr id="26" name="Connector 25"/>
          <p:cNvCxnSpPr/>
          <p:nvPr/>
        </p:nvCxnSpPr>
        <p:spPr>
          <a:xfrm>
            <a:off x="640080" y="4105656"/>
            <a:ext cx="10911535" cy="0"/>
          </a:xfrm>
          <a:prstGeom prst="line">
            <a:avLst/>
          </a:prstGeom>
          <a:ln w="762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40080" y="4215384"/>
            <a:ext cx="3291840" cy="365760"/>
          </a:xfrm>
          <a:prstGeom prst="rect">
            <a:avLst/>
          </a:prstGeom>
          <a:noFill/>
        </p:spPr>
        <p:txBody>
          <a:bodyPr wrap="square" anchor="t" lIns="0" rIns="0" tIns="0" bIns="0">
            <a:spAutoFit/>
          </a:bodyPr>
          <a:lstStyle/>
          <a:p>
            <a:pPr algn="l">
              <a:lnSpc>
                <a:spcPct val="100000"/>
              </a:lnSpc>
              <a:spcAft>
                <a:spcPts val="0"/>
              </a:spcAft>
            </a:pPr>
            <a:r>
              <a:rPr sz="1300" b="0" i="0">
                <a:solidFill>
                  <a:srgbClr val="0B142A"/>
                </a:solidFill>
                <a:latin typeface="Helvetica Neue"/>
              </a:rPr>
              <a:t>Summarize invoices</a:t>
            </a:r>
          </a:p>
        </p:txBody>
      </p:sp>
      <p:sp>
        <p:nvSpPr>
          <p:cNvPr id="28" name="TextBox 27"/>
          <p:cNvSpPr txBox="1"/>
          <p:nvPr/>
        </p:nvSpPr>
        <p:spPr>
          <a:xfrm>
            <a:off x="3931920" y="4215384"/>
            <a:ext cx="2539898" cy="365760"/>
          </a:xfrm>
          <a:prstGeom prst="rect">
            <a:avLst/>
          </a:prstGeom>
          <a:noFill/>
        </p:spPr>
        <p:txBody>
          <a:bodyPr wrap="square" anchor="t" lIns="0" rIns="0" tIns="0" bIns="0">
            <a:spAutoFit/>
          </a:bodyPr>
          <a:lstStyle/>
          <a:p>
            <a:pPr algn="ctr">
              <a:lnSpc>
                <a:spcPct val="100000"/>
              </a:lnSpc>
              <a:spcAft>
                <a:spcPts val="0"/>
              </a:spcAft>
            </a:pPr>
            <a:r>
              <a:rPr sz="1300" b="0" i="0">
                <a:solidFill>
                  <a:srgbClr val="0B142A"/>
                </a:solidFill>
                <a:latin typeface="Helvetica Neue"/>
              </a:rPr>
              <a:t>success</a:t>
            </a:r>
          </a:p>
        </p:txBody>
      </p:sp>
      <p:sp>
        <p:nvSpPr>
          <p:cNvPr id="29" name="TextBox 28"/>
          <p:cNvSpPr txBox="1"/>
          <p:nvPr/>
        </p:nvSpPr>
        <p:spPr>
          <a:xfrm>
            <a:off x="6471818" y="4215384"/>
            <a:ext cx="2539898" cy="365760"/>
          </a:xfrm>
          <a:prstGeom prst="rect">
            <a:avLst/>
          </a:prstGeom>
          <a:noFill/>
        </p:spPr>
        <p:txBody>
          <a:bodyPr wrap="square" anchor="t" lIns="0" rIns="0" tIns="0" bIns="0">
            <a:spAutoFit/>
          </a:bodyPr>
          <a:lstStyle/>
          <a:p>
            <a:pPr algn="ctr">
              <a:lnSpc>
                <a:spcPct val="100000"/>
              </a:lnSpc>
              <a:spcAft>
                <a:spcPts val="0"/>
              </a:spcAft>
            </a:pPr>
            <a:r>
              <a:rPr sz="1300" b="0" i="0">
                <a:solidFill>
                  <a:srgbClr val="0B142A"/>
                </a:solidFill>
                <a:latin typeface="Helvetica Neue"/>
              </a:rPr>
              <a:t>success</a:t>
            </a:r>
          </a:p>
        </p:txBody>
      </p:sp>
      <p:sp>
        <p:nvSpPr>
          <p:cNvPr id="30" name="TextBox 29"/>
          <p:cNvSpPr txBox="1"/>
          <p:nvPr/>
        </p:nvSpPr>
        <p:spPr>
          <a:xfrm>
            <a:off x="9011716" y="4215384"/>
            <a:ext cx="2539898" cy="365760"/>
          </a:xfrm>
          <a:prstGeom prst="rect">
            <a:avLst/>
          </a:prstGeom>
          <a:noFill/>
        </p:spPr>
        <p:txBody>
          <a:bodyPr wrap="square" anchor="t" lIns="0" rIns="0" tIns="0" bIns="0">
            <a:spAutoFit/>
          </a:bodyPr>
          <a:lstStyle/>
          <a:p>
            <a:pPr algn="ctr">
              <a:lnSpc>
                <a:spcPct val="100000"/>
              </a:lnSpc>
              <a:spcAft>
                <a:spcPts val="0"/>
              </a:spcAft>
            </a:pPr>
            <a:r>
              <a:rPr sz="1300" b="0" i="0">
                <a:solidFill>
                  <a:srgbClr val="0B142A"/>
                </a:solidFill>
                <a:latin typeface="Helvetica Neue"/>
              </a:rPr>
              <a:t>success</a:t>
            </a:r>
          </a:p>
        </p:txBody>
      </p:sp>
      <p:cxnSp>
        <p:nvCxnSpPr>
          <p:cNvPr id="31" name="Connector 30"/>
          <p:cNvCxnSpPr/>
          <p:nvPr/>
        </p:nvCxnSpPr>
        <p:spPr>
          <a:xfrm>
            <a:off x="640080" y="4544568"/>
            <a:ext cx="10911535" cy="0"/>
          </a:xfrm>
          <a:prstGeom prst="line">
            <a:avLst/>
          </a:prstGeom>
          <a:ln w="762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40080" y="4654296"/>
            <a:ext cx="3291840" cy="365760"/>
          </a:xfrm>
          <a:prstGeom prst="rect">
            <a:avLst/>
          </a:prstGeom>
          <a:noFill/>
        </p:spPr>
        <p:txBody>
          <a:bodyPr wrap="square" anchor="t" lIns="0" rIns="0" tIns="0" bIns="0">
            <a:spAutoFit/>
          </a:bodyPr>
          <a:lstStyle/>
          <a:p>
            <a:pPr algn="l">
              <a:lnSpc>
                <a:spcPct val="100000"/>
              </a:lnSpc>
              <a:spcAft>
                <a:spcPts val="0"/>
              </a:spcAft>
            </a:pPr>
            <a:r>
              <a:rPr sz="1300" b="0" i="0">
                <a:solidFill>
                  <a:srgbClr val="0B142A"/>
                </a:solidFill>
                <a:latin typeface="Helvetica Neue"/>
              </a:rPr>
              <a:t>Product base unit and type</a:t>
            </a:r>
          </a:p>
        </p:txBody>
      </p:sp>
      <p:sp>
        <p:nvSpPr>
          <p:cNvPr id="33" name="TextBox 32"/>
          <p:cNvSpPr txBox="1"/>
          <p:nvPr/>
        </p:nvSpPr>
        <p:spPr>
          <a:xfrm>
            <a:off x="3931920" y="4654296"/>
            <a:ext cx="2539898" cy="365760"/>
          </a:xfrm>
          <a:prstGeom prst="rect">
            <a:avLst/>
          </a:prstGeom>
          <a:noFill/>
        </p:spPr>
        <p:txBody>
          <a:bodyPr wrap="square" anchor="t" lIns="0" rIns="0" tIns="0" bIns="0">
            <a:spAutoFit/>
          </a:bodyPr>
          <a:lstStyle/>
          <a:p>
            <a:pPr algn="ctr">
              <a:lnSpc>
                <a:spcPct val="100000"/>
              </a:lnSpc>
              <a:spcAft>
                <a:spcPts val="0"/>
              </a:spcAft>
            </a:pPr>
            <a:r>
              <a:rPr sz="1300" b="0" i="0">
                <a:solidFill>
                  <a:srgbClr val="0B142A"/>
                </a:solidFill>
                <a:latin typeface="Helvetica Neue"/>
              </a:rPr>
              <a:t>success</a:t>
            </a:r>
          </a:p>
        </p:txBody>
      </p:sp>
      <p:sp>
        <p:nvSpPr>
          <p:cNvPr id="34" name="TextBox 33"/>
          <p:cNvSpPr txBox="1"/>
          <p:nvPr/>
        </p:nvSpPr>
        <p:spPr>
          <a:xfrm>
            <a:off x="6471818" y="4654296"/>
            <a:ext cx="2539898" cy="365760"/>
          </a:xfrm>
          <a:prstGeom prst="rect">
            <a:avLst/>
          </a:prstGeom>
          <a:noFill/>
        </p:spPr>
        <p:txBody>
          <a:bodyPr wrap="square" anchor="t" lIns="0" rIns="0" tIns="0" bIns="0">
            <a:spAutoFit/>
          </a:bodyPr>
          <a:lstStyle/>
          <a:p>
            <a:pPr algn="ctr">
              <a:lnSpc>
                <a:spcPct val="100000"/>
              </a:lnSpc>
              <a:spcAft>
                <a:spcPts val="0"/>
              </a:spcAft>
            </a:pPr>
            <a:r>
              <a:rPr sz="1300" b="0" i="0">
                <a:solidFill>
                  <a:srgbClr val="0B142A"/>
                </a:solidFill>
                <a:latin typeface="Helvetica Neue"/>
              </a:rPr>
              <a:t>success</a:t>
            </a:r>
          </a:p>
        </p:txBody>
      </p:sp>
      <p:sp>
        <p:nvSpPr>
          <p:cNvPr id="35" name="TextBox 34"/>
          <p:cNvSpPr txBox="1"/>
          <p:nvPr/>
        </p:nvSpPr>
        <p:spPr>
          <a:xfrm>
            <a:off x="9011716" y="4654296"/>
            <a:ext cx="2539898" cy="365760"/>
          </a:xfrm>
          <a:prstGeom prst="rect">
            <a:avLst/>
          </a:prstGeom>
          <a:noFill/>
        </p:spPr>
        <p:txBody>
          <a:bodyPr wrap="square" anchor="t" lIns="0" rIns="0" tIns="0" bIns="0">
            <a:spAutoFit/>
          </a:bodyPr>
          <a:lstStyle/>
          <a:p>
            <a:pPr algn="ctr">
              <a:lnSpc>
                <a:spcPct val="100000"/>
              </a:lnSpc>
              <a:spcAft>
                <a:spcPts val="0"/>
              </a:spcAft>
            </a:pPr>
            <a:r>
              <a:rPr sz="1300" b="0" i="0">
                <a:solidFill>
                  <a:srgbClr val="0B142A"/>
                </a:solidFill>
                <a:latin typeface="Helvetica Neue"/>
              </a:rPr>
              <a:t>success</a:t>
            </a:r>
          </a:p>
        </p:txBody>
      </p:sp>
      <p:cxnSp>
        <p:nvCxnSpPr>
          <p:cNvPr id="36" name="Connector 35"/>
          <p:cNvCxnSpPr/>
          <p:nvPr/>
        </p:nvCxnSpPr>
        <p:spPr>
          <a:xfrm>
            <a:off x="640080" y="4983480"/>
            <a:ext cx="10911535" cy="0"/>
          </a:xfrm>
          <a:prstGeom prst="line">
            <a:avLst/>
          </a:prstGeom>
          <a:ln w="762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640080" y="5166360"/>
            <a:ext cx="10911535" cy="731520"/>
          </a:xfrm>
          <a:prstGeom prst="roundRect">
            <a:avLst>
              <a:gd name="adj" fmla="val 8000"/>
            </a:avLst>
          </a:prstGeom>
          <a:solidFill>
            <a:srgbClr val="0B1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166360"/>
            <a:ext cx="10180015" cy="731520"/>
          </a:xfrm>
          <a:prstGeom prst="rect">
            <a:avLst/>
          </a:prstGeom>
          <a:noFill/>
        </p:spPr>
        <p:txBody>
          <a:bodyPr wrap="square" anchor="ctr" lIns="0" rIns="0" tIns="0" bIns="0">
            <a:spAutoFit/>
          </a:bodyPr>
          <a:lstStyle/>
          <a:p>
            <a:pPr algn="l">
              <a:lnSpc>
                <a:spcPct val="125000"/>
              </a:lnSpc>
              <a:spcAft>
                <a:spcPts val="0"/>
              </a:spcAft>
            </a:pPr>
            <a:r>
              <a:rPr sz="1450" b="0" i="1">
                <a:solidFill>
                  <a:srgbClr val="FFFFFF"/>
                </a:solidFill>
                <a:latin typeface="Helvetica Neue"/>
              </a:rPr>
              <a:t>Model quality buys efficiency, not new capability. No model gets through a platform policy. All three hit the same 405 wall on the write task.</a:t>
            </a:r>
          </a:p>
        </p:txBody>
      </p:sp>
      <p:sp>
        <p:nvSpPr>
          <p:cNvPr id="39" name="TextBox 38"/>
          <p:cNvSpPr txBox="1"/>
          <p:nvPr/>
        </p:nvSpPr>
        <p:spPr>
          <a:xfrm>
            <a:off x="640080" y="6492240"/>
            <a:ext cx="5486400" cy="274320"/>
          </a:xfrm>
          <a:prstGeom prst="rect">
            <a:avLst/>
          </a:prstGeom>
          <a:noFill/>
        </p:spPr>
        <p:txBody>
          <a:bodyPr wrap="square" anchor="t" lIns="0" rIns="0" tIns="0" bIns="0">
            <a:spAutoFit/>
          </a:bodyPr>
          <a:lstStyle/>
          <a:p>
            <a:pPr algn="l">
              <a:lnSpc>
                <a:spcPct val="100000"/>
              </a:lnSpc>
              <a:spcAft>
                <a:spcPts val="0"/>
              </a:spcAft>
            </a:pPr>
            <a:r>
              <a:rPr sz="950" b="0" i="0">
                <a:solidFill>
                  <a:srgbClr val="6B7280"/>
                </a:solidFill>
                <a:latin typeface="Helvetica Neue"/>
              </a:rPr>
              <a:t>Can an AI agent operate an ERP? — July 2026 study</a:t>
            </a:r>
          </a:p>
        </p:txBody>
      </p:sp>
      <p:sp>
        <p:nvSpPr>
          <p:cNvPr id="40" name="TextBox 39"/>
          <p:cNvSpPr txBox="1"/>
          <p:nvPr/>
        </p:nvSpPr>
        <p:spPr>
          <a:xfrm>
            <a:off x="10180015" y="6492240"/>
            <a:ext cx="1371600" cy="274320"/>
          </a:xfrm>
          <a:prstGeom prst="rect">
            <a:avLst/>
          </a:prstGeom>
          <a:noFill/>
        </p:spPr>
        <p:txBody>
          <a:bodyPr wrap="square" anchor="t" lIns="0" rIns="0" tIns="0" bIns="0">
            <a:spAutoFit/>
          </a:bodyPr>
          <a:lstStyle/>
          <a:p>
            <a:pPr algn="r">
              <a:lnSpc>
                <a:spcPct val="100000"/>
              </a:lnSpc>
              <a:spcAft>
                <a:spcPts val="0"/>
              </a:spcAft>
            </a:pPr>
            <a:r>
              <a:rPr sz="950" b="0" i="0">
                <a:solidFill>
                  <a:srgbClr val="6B7280"/>
                </a:solidFill>
                <a:latin typeface="Helvetica Neue"/>
              </a:rPr>
              <a:t>06 / 11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7315200" cy="320040"/>
          </a:xfrm>
          <a:prstGeom prst="rect">
            <a:avLst/>
          </a:prstGeom>
          <a:noFill/>
        </p:spPr>
        <p:txBody>
          <a:bodyPr wrap="square" anchor="t" lIns="0" rIns="0" tIns="0" bIns="0">
            <a:spAutoFit/>
          </a:bodyPr>
          <a:lstStyle/>
          <a:p>
            <a:pPr algn="l">
              <a:lnSpc>
                <a:spcPct val="100000"/>
              </a:lnSpc>
              <a:spcAft>
                <a:spcPts val="0"/>
              </a:spcAft>
            </a:pPr>
            <a:r>
              <a:rPr sz="1250" b="1" i="0">
                <a:solidFill>
                  <a:srgbClr val="0E6B6B"/>
                </a:solidFill>
                <a:latin typeface="Helvetica Neue"/>
              </a:rPr>
              <a:t>FINDING 1</a:t>
            </a:r>
          </a:p>
        </p:txBody>
      </p:sp>
      <p:sp>
        <p:nvSpPr>
          <p:cNvPr id="3" name="TextBox 2"/>
          <p:cNvSpPr txBox="1"/>
          <p:nvPr/>
        </p:nvSpPr>
        <p:spPr>
          <a:xfrm>
            <a:off x="640080" y="749808"/>
            <a:ext cx="10881360" cy="822960"/>
          </a:xfrm>
          <a:prstGeom prst="rect">
            <a:avLst/>
          </a:prstGeom>
          <a:noFill/>
        </p:spPr>
        <p:txBody>
          <a:bodyPr wrap="square" anchor="t" lIns="0" rIns="0" tIns="0" bIns="0">
            <a:spAutoFit/>
          </a:bodyPr>
          <a:lstStyle/>
          <a:p>
            <a:pPr algn="l">
              <a:lnSpc>
                <a:spcPct val="100000"/>
              </a:lnSpc>
              <a:spcAft>
                <a:spcPts val="0"/>
              </a:spcAft>
            </a:pPr>
            <a:r>
              <a:rPr sz="3000" b="1" i="0">
                <a:solidFill>
                  <a:srgbClr val="0B142A"/>
                </a:solidFill>
                <a:latin typeface="Georgia"/>
              </a:rPr>
              <a:t>Reading works, but discovery is expensive</a:t>
            </a:r>
          </a:p>
        </p:txBody>
      </p:sp>
      <p:cxnSp>
        <p:nvCxnSpPr>
          <p:cNvPr id="4" name="Connector 3"/>
          <p:cNvCxnSpPr/>
          <p:nvPr/>
        </p:nvCxnSpPr>
        <p:spPr>
          <a:xfrm>
            <a:off x="640080" y="1481328"/>
            <a:ext cx="10911535" cy="0"/>
          </a:xfrm>
          <a:prstGeom prst="line">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828800"/>
            <a:ext cx="3383280" cy="685800"/>
          </a:xfrm>
          <a:prstGeom prst="rect">
            <a:avLst/>
          </a:prstGeom>
          <a:noFill/>
        </p:spPr>
        <p:txBody>
          <a:bodyPr wrap="square" anchor="t" lIns="0" rIns="0" tIns="0" bIns="0">
            <a:spAutoFit/>
          </a:bodyPr>
          <a:lstStyle/>
          <a:p>
            <a:pPr algn="l">
              <a:lnSpc>
                <a:spcPct val="100000"/>
              </a:lnSpc>
              <a:spcAft>
                <a:spcPts val="0"/>
              </a:spcAft>
            </a:pPr>
            <a:r>
              <a:rPr sz="5200" b="1" i="0">
                <a:solidFill>
                  <a:srgbClr val="0E6B6B"/>
                </a:solidFill>
                <a:latin typeface="Georgia"/>
              </a:rPr>
              <a:t>11</a:t>
            </a:r>
          </a:p>
        </p:txBody>
      </p:sp>
      <p:sp>
        <p:nvSpPr>
          <p:cNvPr id="6" name="TextBox 5"/>
          <p:cNvSpPr txBox="1"/>
          <p:nvPr/>
        </p:nvSpPr>
        <p:spPr>
          <a:xfrm>
            <a:off x="640080" y="2606871"/>
            <a:ext cx="3383280" cy="548640"/>
          </a:xfrm>
          <a:prstGeom prst="rect">
            <a:avLst/>
          </a:prstGeom>
          <a:noFill/>
        </p:spPr>
        <p:txBody>
          <a:bodyPr wrap="square" anchor="t" lIns="0" rIns="0" tIns="0" bIns="0">
            <a:spAutoFit/>
          </a:bodyPr>
          <a:lstStyle/>
          <a:p>
            <a:pPr algn="l">
              <a:lnSpc>
                <a:spcPct val="115000"/>
              </a:lnSpc>
              <a:spcAft>
                <a:spcPts val="0"/>
              </a:spcAft>
            </a:pPr>
            <a:r>
              <a:rPr sz="1250" b="0" i="0">
                <a:solidFill>
                  <a:srgbClr val="6B7280"/>
                </a:solidFill>
                <a:latin typeface="Helvetica Neue"/>
              </a:rPr>
              <a:t>API calls to find</a:t>
            </a:r>
          </a:p>
          <a:p>
            <a:pPr algn="l">
              <a:lnSpc>
                <a:spcPct val="115000"/>
              </a:lnSpc>
              <a:spcAft>
                <a:spcPts val="0"/>
              </a:spcAft>
            </a:pPr>
            <a:r>
              <a:rPr sz="1250" b="0" i="0">
                <a:solidFill>
                  <a:srgbClr val="6B7280"/>
                </a:solidFill>
                <a:latin typeface="Helvetica Neue"/>
              </a:rPr>
              <a:t>one supplier by name</a:t>
            </a:r>
          </a:p>
        </p:txBody>
      </p:sp>
      <p:sp>
        <p:nvSpPr>
          <p:cNvPr id="7" name="TextBox 6"/>
          <p:cNvSpPr txBox="1"/>
          <p:nvPr/>
        </p:nvSpPr>
        <p:spPr>
          <a:xfrm>
            <a:off x="640080" y="3657600"/>
            <a:ext cx="3383280" cy="2377440"/>
          </a:xfrm>
          <a:prstGeom prst="rect">
            <a:avLst/>
          </a:prstGeom>
          <a:noFill/>
        </p:spPr>
        <p:txBody>
          <a:bodyPr wrap="square" anchor="t" lIns="0" rIns="0" tIns="0" bIns="0">
            <a:spAutoFit/>
          </a:bodyPr>
          <a:lstStyle/>
          <a:p>
            <a:pPr algn="l">
              <a:lnSpc>
                <a:spcPct val="130000"/>
              </a:lnSpc>
              <a:spcAft>
                <a:spcPts val="0"/>
              </a:spcAft>
            </a:pPr>
            <a:r>
              <a:rPr sz="1450" b="0" i="0">
                <a:solidFill>
                  <a:srgbClr val="0B142A"/>
                </a:solidFill>
                <a:latin typeface="Helvetica Neue"/>
              </a:rPr>
              <a:t>The agent completed every read task. But the simplest sounding one, find one supplier by name, took 11 calls because the agent had to discover SAP's data model by trial and error.</a:t>
            </a:r>
          </a:p>
        </p:txBody>
      </p:sp>
      <p:sp>
        <p:nvSpPr>
          <p:cNvPr id="8" name="Rounded Rectangle 7"/>
          <p:cNvSpPr/>
          <p:nvPr/>
        </p:nvSpPr>
        <p:spPr>
          <a:xfrm>
            <a:off x="4937760" y="1828800"/>
            <a:ext cx="6613855" cy="3566160"/>
          </a:xfrm>
          <a:prstGeom prst="roundRect">
            <a:avLst>
              <a:gd name="adj" fmla="val 5000"/>
            </a:avLst>
          </a:prstGeom>
          <a:solidFill>
            <a:srgbClr val="E4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03520" y="2103120"/>
            <a:ext cx="5882335" cy="365760"/>
          </a:xfrm>
          <a:prstGeom prst="rect">
            <a:avLst/>
          </a:prstGeom>
          <a:noFill/>
        </p:spPr>
        <p:txBody>
          <a:bodyPr wrap="square" anchor="t" lIns="0" rIns="0" tIns="0" bIns="0">
            <a:spAutoFit/>
          </a:bodyPr>
          <a:lstStyle/>
          <a:p>
            <a:pPr algn="l">
              <a:lnSpc>
                <a:spcPct val="100000"/>
              </a:lnSpc>
              <a:spcAft>
                <a:spcPts val="0"/>
              </a:spcAft>
            </a:pPr>
            <a:r>
              <a:rPr sz="1350" b="1" i="0">
                <a:solidFill>
                  <a:srgbClr val="0E6B6B"/>
                </a:solidFill>
                <a:latin typeface="Helvetica Neue"/>
              </a:rPr>
              <a:t>Entity names the agent guessed and SAP rejected</a:t>
            </a:r>
          </a:p>
        </p:txBody>
      </p:sp>
      <p:sp>
        <p:nvSpPr>
          <p:cNvPr id="10" name="TextBox 9"/>
          <p:cNvSpPr txBox="1"/>
          <p:nvPr/>
        </p:nvSpPr>
        <p:spPr>
          <a:xfrm>
            <a:off x="5303520" y="2606040"/>
            <a:ext cx="5882335" cy="822960"/>
          </a:xfrm>
          <a:prstGeom prst="rect">
            <a:avLst/>
          </a:prstGeom>
          <a:noFill/>
        </p:spPr>
        <p:txBody>
          <a:bodyPr wrap="square" anchor="t" lIns="0" rIns="0" tIns="0" bIns="0">
            <a:spAutoFit/>
          </a:bodyPr>
          <a:lstStyle/>
          <a:p>
            <a:pPr algn="l">
              <a:lnSpc>
                <a:spcPct val="140000"/>
              </a:lnSpc>
              <a:spcAft>
                <a:spcPts val="0"/>
              </a:spcAft>
            </a:pPr>
            <a:r>
              <a:rPr sz="1700" b="1" i="0">
                <a:solidFill>
                  <a:srgbClr val="0B142A"/>
                </a:solidFill>
                <a:latin typeface="Courier New"/>
              </a:rPr>
              <a:t>A_PaymentTerms</a:t>
            </a:r>
          </a:p>
          <a:p>
            <a:pPr algn="l">
              <a:lnSpc>
                <a:spcPct val="140000"/>
              </a:lnSpc>
              <a:spcAft>
                <a:spcPts val="0"/>
              </a:spcAft>
            </a:pPr>
            <a:r>
              <a:rPr sz="1700" b="1" i="0">
                <a:solidFill>
                  <a:srgbClr val="0B142A"/>
                </a:solidFill>
                <a:latin typeface="Courier New"/>
              </a:rPr>
              <a:t>A_SupplierRole</a:t>
            </a:r>
          </a:p>
        </p:txBody>
      </p:sp>
      <p:cxnSp>
        <p:nvCxnSpPr>
          <p:cNvPr id="11" name="Connector 10"/>
          <p:cNvCxnSpPr/>
          <p:nvPr/>
        </p:nvCxnSpPr>
        <p:spPr>
          <a:xfrm>
            <a:off x="5303520" y="3566160"/>
            <a:ext cx="5882335" cy="0"/>
          </a:xfrm>
          <a:prstGeom prst="line">
            <a:avLst/>
          </a:prstGeom>
          <a:ln w="12700">
            <a:solidFill>
              <a:srgbClr val="C7DAD9"/>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303520" y="3749039"/>
            <a:ext cx="5882335" cy="1463040"/>
          </a:xfrm>
          <a:prstGeom prst="rect">
            <a:avLst/>
          </a:prstGeom>
          <a:noFill/>
        </p:spPr>
        <p:txBody>
          <a:bodyPr wrap="square" anchor="t" lIns="0" rIns="0" tIns="0" bIns="0">
            <a:spAutoFit/>
          </a:bodyPr>
          <a:lstStyle/>
          <a:p>
            <a:pPr algn="l">
              <a:lnSpc>
                <a:spcPct val="128000"/>
              </a:lnSpc>
              <a:spcAft>
                <a:spcPts val="0"/>
              </a:spcAft>
            </a:pPr>
            <a:r>
              <a:rPr sz="1300" b="0" i="0">
                <a:solidFill>
                  <a:srgbClr val="0B142A"/>
                </a:solidFill>
                <a:latin typeface="Helvetica Neue"/>
              </a:rPr>
              <a:t>It also used a filter function the OData v2 gateway rejects outright, and recovered each time by reading the error and adjusting course. The stumbles are not model stupidity, they are the cost of a fifty year old data model exposed through an API that assumes the caller already knows it.</a:t>
            </a:r>
          </a:p>
        </p:txBody>
      </p:sp>
      <p:sp>
        <p:nvSpPr>
          <p:cNvPr id="13" name="TextBox 12"/>
          <p:cNvSpPr txBox="1"/>
          <p:nvPr/>
        </p:nvSpPr>
        <p:spPr>
          <a:xfrm>
            <a:off x="640080" y="6492240"/>
            <a:ext cx="5486400" cy="274320"/>
          </a:xfrm>
          <a:prstGeom prst="rect">
            <a:avLst/>
          </a:prstGeom>
          <a:noFill/>
        </p:spPr>
        <p:txBody>
          <a:bodyPr wrap="square" anchor="t" lIns="0" rIns="0" tIns="0" bIns="0">
            <a:spAutoFit/>
          </a:bodyPr>
          <a:lstStyle/>
          <a:p>
            <a:pPr algn="l">
              <a:lnSpc>
                <a:spcPct val="100000"/>
              </a:lnSpc>
              <a:spcAft>
                <a:spcPts val="0"/>
              </a:spcAft>
            </a:pPr>
            <a:r>
              <a:rPr sz="950" b="0" i="0">
                <a:solidFill>
                  <a:srgbClr val="6B7280"/>
                </a:solidFill>
                <a:latin typeface="Helvetica Neue"/>
              </a:rPr>
              <a:t>Can an AI agent operate an ERP? — July 2026 study</a:t>
            </a:r>
          </a:p>
        </p:txBody>
      </p:sp>
      <p:sp>
        <p:nvSpPr>
          <p:cNvPr id="14" name="TextBox 13"/>
          <p:cNvSpPr txBox="1"/>
          <p:nvPr/>
        </p:nvSpPr>
        <p:spPr>
          <a:xfrm>
            <a:off x="10180015" y="6492240"/>
            <a:ext cx="1371600" cy="274320"/>
          </a:xfrm>
          <a:prstGeom prst="rect">
            <a:avLst/>
          </a:prstGeom>
          <a:noFill/>
        </p:spPr>
        <p:txBody>
          <a:bodyPr wrap="square" anchor="t" lIns="0" rIns="0" tIns="0" bIns="0">
            <a:spAutoFit/>
          </a:bodyPr>
          <a:lstStyle/>
          <a:p>
            <a:pPr algn="r">
              <a:lnSpc>
                <a:spcPct val="100000"/>
              </a:lnSpc>
              <a:spcAft>
                <a:spcPts val="0"/>
              </a:spcAft>
            </a:pPr>
            <a:r>
              <a:rPr sz="950" b="0" i="0">
                <a:solidFill>
                  <a:srgbClr val="6B7280"/>
                </a:solidFill>
                <a:latin typeface="Helvetica Neue"/>
              </a:rPr>
              <a:t>07 / 11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7315200" cy="320040"/>
          </a:xfrm>
          <a:prstGeom prst="rect">
            <a:avLst/>
          </a:prstGeom>
          <a:noFill/>
        </p:spPr>
        <p:txBody>
          <a:bodyPr wrap="square" anchor="t" lIns="0" rIns="0" tIns="0" bIns="0">
            <a:spAutoFit/>
          </a:bodyPr>
          <a:lstStyle/>
          <a:p>
            <a:pPr algn="l">
              <a:lnSpc>
                <a:spcPct val="100000"/>
              </a:lnSpc>
              <a:spcAft>
                <a:spcPts val="0"/>
              </a:spcAft>
            </a:pPr>
            <a:r>
              <a:rPr sz="1250" b="1" i="0">
                <a:solidFill>
                  <a:srgbClr val="0E6B6B"/>
                </a:solidFill>
                <a:latin typeface="Helvetica Neue"/>
              </a:rPr>
              <a:t>FINDING 2</a:t>
            </a:r>
          </a:p>
        </p:txBody>
      </p:sp>
      <p:sp>
        <p:nvSpPr>
          <p:cNvPr id="3" name="TextBox 2"/>
          <p:cNvSpPr txBox="1"/>
          <p:nvPr/>
        </p:nvSpPr>
        <p:spPr>
          <a:xfrm>
            <a:off x="640080" y="749808"/>
            <a:ext cx="10881360" cy="822960"/>
          </a:xfrm>
          <a:prstGeom prst="rect">
            <a:avLst/>
          </a:prstGeom>
          <a:noFill/>
        </p:spPr>
        <p:txBody>
          <a:bodyPr wrap="square" anchor="t" lIns="0" rIns="0" tIns="0" bIns="0">
            <a:spAutoFit/>
          </a:bodyPr>
          <a:lstStyle/>
          <a:p>
            <a:pPr algn="l">
              <a:lnSpc>
                <a:spcPct val="100000"/>
              </a:lnSpc>
              <a:spcAft>
                <a:spcPts val="0"/>
              </a:spcAft>
            </a:pPr>
            <a:r>
              <a:rPr sz="3000" b="1" i="0">
                <a:solidFill>
                  <a:srgbClr val="0B142A"/>
                </a:solidFill>
                <a:latin typeface="Georgia"/>
              </a:rPr>
              <a:t>Writing to the enterprise is walled off</a:t>
            </a:r>
          </a:p>
        </p:txBody>
      </p:sp>
      <p:cxnSp>
        <p:nvCxnSpPr>
          <p:cNvPr id="4" name="Connector 3"/>
          <p:cNvCxnSpPr/>
          <p:nvPr/>
        </p:nvCxnSpPr>
        <p:spPr>
          <a:xfrm>
            <a:off x="640080" y="1481328"/>
            <a:ext cx="10911535" cy="0"/>
          </a:xfrm>
          <a:prstGeom prst="line">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828800"/>
            <a:ext cx="3383280" cy="685800"/>
          </a:xfrm>
          <a:prstGeom prst="rect">
            <a:avLst/>
          </a:prstGeom>
          <a:noFill/>
        </p:spPr>
        <p:txBody>
          <a:bodyPr wrap="square" anchor="t" lIns="0" rIns="0" tIns="0" bIns="0">
            <a:spAutoFit/>
          </a:bodyPr>
          <a:lstStyle/>
          <a:p>
            <a:pPr algn="l">
              <a:lnSpc>
                <a:spcPct val="100000"/>
              </a:lnSpc>
              <a:spcAft>
                <a:spcPts val="0"/>
              </a:spcAft>
            </a:pPr>
            <a:r>
              <a:rPr sz="5200" b="1" i="0">
                <a:solidFill>
                  <a:srgbClr val="9C3B2E"/>
                </a:solidFill>
                <a:latin typeface="Georgia"/>
              </a:rPr>
              <a:t>405</a:t>
            </a:r>
          </a:p>
        </p:txBody>
      </p:sp>
      <p:sp>
        <p:nvSpPr>
          <p:cNvPr id="6" name="TextBox 5"/>
          <p:cNvSpPr txBox="1"/>
          <p:nvPr/>
        </p:nvSpPr>
        <p:spPr>
          <a:xfrm>
            <a:off x="640080" y="2606871"/>
            <a:ext cx="3383280" cy="548640"/>
          </a:xfrm>
          <a:prstGeom prst="rect">
            <a:avLst/>
          </a:prstGeom>
          <a:noFill/>
        </p:spPr>
        <p:txBody>
          <a:bodyPr wrap="square" anchor="t" lIns="0" rIns="0" tIns="0" bIns="0">
            <a:spAutoFit/>
          </a:bodyPr>
          <a:lstStyle/>
          <a:p>
            <a:pPr algn="l">
              <a:lnSpc>
                <a:spcPct val="115000"/>
              </a:lnSpc>
              <a:spcAft>
                <a:spcPts val="0"/>
              </a:spcAft>
            </a:pPr>
            <a:r>
              <a:rPr sz="1250" b="0" i="0">
                <a:solidFill>
                  <a:srgbClr val="6B7280"/>
                </a:solidFill>
                <a:latin typeface="Helvetica Neue"/>
              </a:rPr>
              <a:t>HTTP response to the</a:t>
            </a:r>
          </a:p>
          <a:p>
            <a:pPr algn="l">
              <a:lnSpc>
                <a:spcPct val="115000"/>
              </a:lnSpc>
              <a:spcAft>
                <a:spcPts val="0"/>
              </a:spcAft>
            </a:pPr>
            <a:r>
              <a:rPr sz="1250" b="0" i="0">
                <a:solidFill>
                  <a:srgbClr val="6B7280"/>
                </a:solidFill>
                <a:latin typeface="Helvetica Neue"/>
              </a:rPr>
              <a:t>purchase order write attempt</a:t>
            </a:r>
          </a:p>
        </p:txBody>
      </p:sp>
      <p:sp>
        <p:nvSpPr>
          <p:cNvPr id="7" name="TextBox 6"/>
          <p:cNvSpPr txBox="1"/>
          <p:nvPr/>
        </p:nvSpPr>
        <p:spPr>
          <a:xfrm>
            <a:off x="640080" y="3703320"/>
            <a:ext cx="3383280" cy="2286000"/>
          </a:xfrm>
          <a:prstGeom prst="rect">
            <a:avLst/>
          </a:prstGeom>
          <a:noFill/>
        </p:spPr>
        <p:txBody>
          <a:bodyPr wrap="square" anchor="t" lIns="0" rIns="0" tIns="0" bIns="0">
            <a:spAutoFit/>
          </a:bodyPr>
          <a:lstStyle/>
          <a:p>
            <a:pPr algn="l">
              <a:lnSpc>
                <a:spcPct val="130000"/>
              </a:lnSpc>
              <a:spcAft>
                <a:spcPts val="0"/>
              </a:spcAft>
            </a:pPr>
            <a:r>
              <a:rPr sz="1450" b="0" i="0">
                <a:solidFill>
                  <a:srgbClr val="0B142A"/>
                </a:solidFill>
                <a:latin typeface="Helvetica Neue"/>
              </a:rPr>
              <a:t>SAP's message was direct, the public sandbox supports GET operations only, and write operations must be tested against a customer's own system.</a:t>
            </a:r>
          </a:p>
        </p:txBody>
      </p:sp>
      <p:sp>
        <p:nvSpPr>
          <p:cNvPr id="8" name="Rounded Rectangle 7"/>
          <p:cNvSpPr/>
          <p:nvPr/>
        </p:nvSpPr>
        <p:spPr>
          <a:xfrm>
            <a:off x="4937760" y="1828800"/>
            <a:ext cx="6613855" cy="1417320"/>
          </a:xfrm>
          <a:prstGeom prst="roundRect">
            <a:avLst>
              <a:gd name="adj" fmla="val 6000"/>
            </a:avLst>
          </a:prstGeom>
          <a:solidFill>
            <a:srgbClr val="0B1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03520" y="1993392"/>
            <a:ext cx="5882335" cy="1097280"/>
          </a:xfrm>
          <a:prstGeom prst="rect">
            <a:avLst/>
          </a:prstGeom>
          <a:noFill/>
        </p:spPr>
        <p:txBody>
          <a:bodyPr wrap="square" anchor="ctr" lIns="0" rIns="0" tIns="0" bIns="0">
            <a:spAutoFit/>
          </a:bodyPr>
          <a:lstStyle/>
          <a:p>
            <a:pPr algn="l">
              <a:lnSpc>
                <a:spcPct val="135000"/>
              </a:lnSpc>
              <a:spcAft>
                <a:spcPts val="0"/>
              </a:spcAft>
            </a:pPr>
            <a:r>
              <a:rPr sz="1500" b="0" i="1">
                <a:solidFill>
                  <a:srgbClr val="FFFFFF"/>
                </a:solidFill>
                <a:latin typeface="Helvetica Neue"/>
              </a:rPr>
              <a:t>“The public sandbox supports GET operations only. Write operations must be tested against a customer's own system.”</a:t>
            </a:r>
          </a:p>
        </p:txBody>
      </p:sp>
      <p:sp>
        <p:nvSpPr>
          <p:cNvPr id="10" name="TextBox 9"/>
          <p:cNvSpPr txBox="1"/>
          <p:nvPr/>
        </p:nvSpPr>
        <p:spPr>
          <a:xfrm>
            <a:off x="4937760" y="3520440"/>
            <a:ext cx="6613855" cy="1737360"/>
          </a:xfrm>
          <a:prstGeom prst="rect">
            <a:avLst/>
          </a:prstGeom>
          <a:noFill/>
        </p:spPr>
        <p:txBody>
          <a:bodyPr wrap="square" anchor="t" lIns="0" rIns="0" tIns="0" bIns="0">
            <a:spAutoFit/>
          </a:bodyPr>
          <a:lstStyle/>
          <a:p>
            <a:pPr algn="l">
              <a:lnSpc>
                <a:spcPct val="132000"/>
              </a:lnSpc>
              <a:spcAft>
                <a:spcPts val="0"/>
              </a:spcAft>
            </a:pPr>
            <a:r>
              <a:rPr sz="1400" b="0" i="0">
                <a:solidFill>
                  <a:srgbClr val="0B142A"/>
                </a:solidFill>
                <a:latin typeface="Helvetica Neue"/>
              </a:rPr>
              <a:t>The public evaluation surface of the world's largest ERP vendor lets an agent look but not act. Anyone claiming their agent “works with SAP” on the basis of public APIs is describing a read only integration, a distinction buyers should press on.</a:t>
            </a:r>
          </a:p>
        </p:txBody>
      </p:sp>
      <p:sp>
        <p:nvSpPr>
          <p:cNvPr id="11" name="TextBox 10"/>
          <p:cNvSpPr txBox="1"/>
          <p:nvPr/>
        </p:nvSpPr>
        <p:spPr>
          <a:xfrm>
            <a:off x="640080" y="6492240"/>
            <a:ext cx="5486400" cy="274320"/>
          </a:xfrm>
          <a:prstGeom prst="rect">
            <a:avLst/>
          </a:prstGeom>
          <a:noFill/>
        </p:spPr>
        <p:txBody>
          <a:bodyPr wrap="square" anchor="t" lIns="0" rIns="0" tIns="0" bIns="0">
            <a:spAutoFit/>
          </a:bodyPr>
          <a:lstStyle/>
          <a:p>
            <a:pPr algn="l">
              <a:lnSpc>
                <a:spcPct val="100000"/>
              </a:lnSpc>
              <a:spcAft>
                <a:spcPts val="0"/>
              </a:spcAft>
            </a:pPr>
            <a:r>
              <a:rPr sz="950" b="0" i="0">
                <a:solidFill>
                  <a:srgbClr val="6B7280"/>
                </a:solidFill>
                <a:latin typeface="Helvetica Neue"/>
              </a:rPr>
              <a:t>Can an AI agent operate an ERP? — July 2026 study</a:t>
            </a:r>
          </a:p>
        </p:txBody>
      </p:sp>
      <p:sp>
        <p:nvSpPr>
          <p:cNvPr id="12" name="TextBox 11"/>
          <p:cNvSpPr txBox="1"/>
          <p:nvPr/>
        </p:nvSpPr>
        <p:spPr>
          <a:xfrm>
            <a:off x="10180015" y="6492240"/>
            <a:ext cx="1371600" cy="274320"/>
          </a:xfrm>
          <a:prstGeom prst="rect">
            <a:avLst/>
          </a:prstGeom>
          <a:noFill/>
        </p:spPr>
        <p:txBody>
          <a:bodyPr wrap="square" anchor="t" lIns="0" rIns="0" tIns="0" bIns="0">
            <a:spAutoFit/>
          </a:bodyPr>
          <a:lstStyle/>
          <a:p>
            <a:pPr algn="r">
              <a:lnSpc>
                <a:spcPct val="100000"/>
              </a:lnSpc>
              <a:spcAft>
                <a:spcPts val="0"/>
              </a:spcAft>
            </a:pPr>
            <a:r>
              <a:rPr sz="950" b="0" i="0">
                <a:solidFill>
                  <a:srgbClr val="6B7280"/>
                </a:solidFill>
                <a:latin typeface="Helvetica Neue"/>
              </a:rPr>
              <a:t>08 / 11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7315200" cy="320040"/>
          </a:xfrm>
          <a:prstGeom prst="rect">
            <a:avLst/>
          </a:prstGeom>
          <a:noFill/>
        </p:spPr>
        <p:txBody>
          <a:bodyPr wrap="square" anchor="t" lIns="0" rIns="0" tIns="0" bIns="0">
            <a:spAutoFit/>
          </a:bodyPr>
          <a:lstStyle/>
          <a:p>
            <a:pPr algn="l">
              <a:lnSpc>
                <a:spcPct val="100000"/>
              </a:lnSpc>
              <a:spcAft>
                <a:spcPts val="0"/>
              </a:spcAft>
            </a:pPr>
            <a:r>
              <a:rPr sz="1250" b="1" i="0">
                <a:solidFill>
                  <a:srgbClr val="0E6B6B"/>
                </a:solidFill>
                <a:latin typeface="Helvetica Neue"/>
              </a:rPr>
              <a:t>FINDING 3</a:t>
            </a:r>
          </a:p>
        </p:txBody>
      </p:sp>
      <p:sp>
        <p:nvSpPr>
          <p:cNvPr id="3" name="TextBox 2"/>
          <p:cNvSpPr txBox="1"/>
          <p:nvPr/>
        </p:nvSpPr>
        <p:spPr>
          <a:xfrm>
            <a:off x="640080" y="749808"/>
            <a:ext cx="10881360" cy="822960"/>
          </a:xfrm>
          <a:prstGeom prst="rect">
            <a:avLst/>
          </a:prstGeom>
          <a:noFill/>
        </p:spPr>
        <p:txBody>
          <a:bodyPr wrap="square" anchor="t" lIns="0" rIns="0" tIns="0" bIns="0">
            <a:spAutoFit/>
          </a:bodyPr>
          <a:lstStyle/>
          <a:p>
            <a:pPr algn="l">
              <a:lnSpc>
                <a:spcPct val="100000"/>
              </a:lnSpc>
              <a:spcAft>
                <a:spcPts val="0"/>
              </a:spcAft>
            </a:pPr>
            <a:r>
              <a:rPr sz="3000" b="1" i="0">
                <a:solidFill>
                  <a:srgbClr val="0B142A"/>
                </a:solidFill>
                <a:latin typeface="Georgia"/>
              </a:rPr>
              <a:t>Verbosity is a tax on agents</a:t>
            </a:r>
          </a:p>
        </p:txBody>
      </p:sp>
      <p:cxnSp>
        <p:nvCxnSpPr>
          <p:cNvPr id="4" name="Connector 3"/>
          <p:cNvCxnSpPr/>
          <p:nvPr/>
        </p:nvCxnSpPr>
        <p:spPr>
          <a:xfrm>
            <a:off x="640080" y="1481328"/>
            <a:ext cx="10911535" cy="0"/>
          </a:xfrm>
          <a:prstGeom prst="line">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828800"/>
            <a:ext cx="3383280" cy="685800"/>
          </a:xfrm>
          <a:prstGeom prst="rect">
            <a:avLst/>
          </a:prstGeom>
          <a:noFill/>
        </p:spPr>
        <p:txBody>
          <a:bodyPr wrap="square" anchor="t" lIns="0" rIns="0" tIns="0" bIns="0">
            <a:spAutoFit/>
          </a:bodyPr>
          <a:lstStyle/>
          <a:p>
            <a:pPr algn="l">
              <a:lnSpc>
                <a:spcPct val="100000"/>
              </a:lnSpc>
              <a:spcAft>
                <a:spcPts val="0"/>
              </a:spcAft>
            </a:pPr>
            <a:r>
              <a:rPr sz="4800" b="1" i="0">
                <a:solidFill>
                  <a:srgbClr val="0E6B6B"/>
                </a:solidFill>
                <a:latin typeface="Georgia"/>
              </a:rPr>
              <a:t>8,000</a:t>
            </a:r>
          </a:p>
        </p:txBody>
      </p:sp>
      <p:sp>
        <p:nvSpPr>
          <p:cNvPr id="6" name="TextBox 5"/>
          <p:cNvSpPr txBox="1"/>
          <p:nvPr/>
        </p:nvSpPr>
        <p:spPr>
          <a:xfrm>
            <a:off x="640080" y="2547019"/>
            <a:ext cx="3383280" cy="548640"/>
          </a:xfrm>
          <a:prstGeom prst="rect">
            <a:avLst/>
          </a:prstGeom>
          <a:noFill/>
        </p:spPr>
        <p:txBody>
          <a:bodyPr wrap="square" anchor="t" lIns="0" rIns="0" tIns="0" bIns="0">
            <a:spAutoFit/>
          </a:bodyPr>
          <a:lstStyle/>
          <a:p>
            <a:pPr algn="l">
              <a:lnSpc>
                <a:spcPct val="115000"/>
              </a:lnSpc>
              <a:spcAft>
                <a:spcPts val="0"/>
              </a:spcAft>
            </a:pPr>
            <a:r>
              <a:rPr sz="1250" b="0" i="0">
                <a:solidFill>
                  <a:srgbClr val="6B7280"/>
                </a:solidFill>
                <a:latin typeface="Helvetica Neue"/>
              </a:rPr>
              <a:t>token limit overflowed by</a:t>
            </a:r>
          </a:p>
          <a:p>
            <a:pPr algn="l">
              <a:lnSpc>
                <a:spcPct val="115000"/>
              </a:lnSpc>
              <a:spcAft>
                <a:spcPts val="0"/>
              </a:spcAft>
            </a:pPr>
            <a:r>
              <a:rPr sz="1250" b="0" i="0">
                <a:solidFill>
                  <a:srgbClr val="6B7280"/>
                </a:solidFill>
                <a:latin typeface="Helvetica Neue"/>
              </a:rPr>
              <a:t>a single unfiltered API reply</a:t>
            </a:r>
          </a:p>
        </p:txBody>
      </p:sp>
      <p:sp>
        <p:nvSpPr>
          <p:cNvPr id="7" name="TextBox 6"/>
          <p:cNvSpPr txBox="1"/>
          <p:nvPr/>
        </p:nvSpPr>
        <p:spPr>
          <a:xfrm>
            <a:off x="640080" y="3703320"/>
            <a:ext cx="3383280" cy="2377440"/>
          </a:xfrm>
          <a:prstGeom prst="rect">
            <a:avLst/>
          </a:prstGeom>
          <a:noFill/>
        </p:spPr>
        <p:txBody>
          <a:bodyPr wrap="square" anchor="t" lIns="0" rIns="0" tIns="0" bIns="0">
            <a:spAutoFit/>
          </a:bodyPr>
          <a:lstStyle/>
          <a:p>
            <a:pPr algn="l">
              <a:lnSpc>
                <a:spcPct val="130000"/>
              </a:lnSpc>
              <a:spcAft>
                <a:spcPts val="0"/>
              </a:spcAft>
            </a:pPr>
            <a:r>
              <a:rPr sz="1450" b="0" i="0">
                <a:solidFill>
                  <a:srgbClr val="0B142A"/>
                </a:solidFill>
                <a:latin typeface="Helvetica Neue"/>
              </a:rPr>
              <a:t>SAP's raw responses are large enough that one unfiltered reply overflowed the free model's request limit and killed the first run outright. The failed log is preserved in the repository.</a:t>
            </a:r>
          </a:p>
        </p:txBody>
      </p:sp>
      <p:sp>
        <p:nvSpPr>
          <p:cNvPr id="8" name="Rectangle 7"/>
          <p:cNvSpPr/>
          <p:nvPr/>
        </p:nvSpPr>
        <p:spPr>
          <a:xfrm>
            <a:off x="5120640" y="2103120"/>
            <a:ext cx="6248095" cy="502920"/>
          </a:xfrm>
          <a:prstGeom prst="rect">
            <a:avLst/>
          </a:prstGeom>
          <a:solidFill>
            <a:srgbClr val="9C3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120640" y="1783080"/>
            <a:ext cx="6248095" cy="274320"/>
          </a:xfrm>
          <a:prstGeom prst="rect">
            <a:avLst/>
          </a:prstGeom>
          <a:noFill/>
        </p:spPr>
        <p:txBody>
          <a:bodyPr wrap="square" anchor="t" lIns="0" rIns="0" tIns="0" bIns="0">
            <a:spAutoFit/>
          </a:bodyPr>
          <a:lstStyle/>
          <a:p>
            <a:pPr algn="l">
              <a:lnSpc>
                <a:spcPct val="100000"/>
              </a:lnSpc>
              <a:spcAft>
                <a:spcPts val="0"/>
              </a:spcAft>
            </a:pPr>
            <a:r>
              <a:rPr sz="1250" b="0" i="0">
                <a:solidFill>
                  <a:srgbClr val="6B7280"/>
                </a:solidFill>
                <a:latin typeface="Helvetica Neue"/>
              </a:rPr>
              <a:t>Raw SAP response</a:t>
            </a:r>
          </a:p>
        </p:txBody>
      </p:sp>
      <p:sp>
        <p:nvSpPr>
          <p:cNvPr id="10" name="TextBox 9"/>
          <p:cNvSpPr txBox="1"/>
          <p:nvPr/>
        </p:nvSpPr>
        <p:spPr>
          <a:xfrm>
            <a:off x="5257800" y="2103120"/>
            <a:ext cx="5973775" cy="502920"/>
          </a:xfrm>
          <a:prstGeom prst="rect">
            <a:avLst/>
          </a:prstGeom>
          <a:noFill/>
        </p:spPr>
        <p:txBody>
          <a:bodyPr wrap="square" anchor="ctr" lIns="0" rIns="0" tIns="0" bIns="0">
            <a:spAutoFit/>
          </a:bodyPr>
          <a:lstStyle/>
          <a:p>
            <a:pPr algn="l">
              <a:lnSpc>
                <a:spcPct val="100000"/>
              </a:lnSpc>
              <a:spcAft>
                <a:spcPts val="0"/>
              </a:spcAft>
            </a:pPr>
            <a:r>
              <a:rPr sz="1250" b="1" i="0">
                <a:solidFill>
                  <a:srgbClr val="FFFFFF"/>
                </a:solidFill>
                <a:latin typeface="Helvetica Neue"/>
              </a:rPr>
              <a:t>overflows 8,000 token limit</a:t>
            </a:r>
          </a:p>
        </p:txBody>
      </p:sp>
      <p:sp>
        <p:nvSpPr>
          <p:cNvPr id="11" name="Rectangle 10"/>
          <p:cNvSpPr/>
          <p:nvPr/>
        </p:nvSpPr>
        <p:spPr>
          <a:xfrm>
            <a:off x="5120640" y="3154680"/>
            <a:ext cx="2194560" cy="502920"/>
          </a:xfrm>
          <a:prstGeom prst="rect">
            <a:avLst/>
          </a:prstGeom>
          <a:solidFill>
            <a:srgbClr val="0E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20640" y="2834640"/>
            <a:ext cx="6248095" cy="274320"/>
          </a:xfrm>
          <a:prstGeom prst="rect">
            <a:avLst/>
          </a:prstGeom>
          <a:noFill/>
        </p:spPr>
        <p:txBody>
          <a:bodyPr wrap="square" anchor="t" lIns="0" rIns="0" tIns="0" bIns="0">
            <a:spAutoFit/>
          </a:bodyPr>
          <a:lstStyle/>
          <a:p>
            <a:pPr algn="l">
              <a:lnSpc>
                <a:spcPct val="100000"/>
              </a:lnSpc>
              <a:spcAft>
                <a:spcPts val="0"/>
              </a:spcAft>
            </a:pPr>
            <a:r>
              <a:rPr sz="1250" b="0" i="0">
                <a:solidFill>
                  <a:srgbClr val="6B7280"/>
                </a:solidFill>
                <a:latin typeface="Helvetica Neue"/>
              </a:rPr>
              <a:t>Trimmed response used by the agent</a:t>
            </a:r>
          </a:p>
        </p:txBody>
      </p:sp>
      <p:sp>
        <p:nvSpPr>
          <p:cNvPr id="13" name="TextBox 12"/>
          <p:cNvSpPr txBox="1"/>
          <p:nvPr/>
        </p:nvSpPr>
        <p:spPr>
          <a:xfrm>
            <a:off x="5257800" y="3154680"/>
            <a:ext cx="1920240" cy="502920"/>
          </a:xfrm>
          <a:prstGeom prst="rect">
            <a:avLst/>
          </a:prstGeom>
          <a:noFill/>
        </p:spPr>
        <p:txBody>
          <a:bodyPr wrap="square" anchor="ctr" lIns="0" rIns="0" tIns="0" bIns="0">
            <a:spAutoFit/>
          </a:bodyPr>
          <a:lstStyle/>
          <a:p>
            <a:pPr algn="l">
              <a:lnSpc>
                <a:spcPct val="100000"/>
              </a:lnSpc>
              <a:spcAft>
                <a:spcPts val="0"/>
              </a:spcAft>
            </a:pPr>
            <a:r>
              <a:rPr sz="1250" b="1" i="0">
                <a:solidFill>
                  <a:srgbClr val="FFFFFF"/>
                </a:solidFill>
                <a:latin typeface="Helvetica Neue"/>
              </a:rPr>
              <a:t>fits comfortably</a:t>
            </a:r>
          </a:p>
        </p:txBody>
      </p:sp>
      <p:sp>
        <p:nvSpPr>
          <p:cNvPr id="14" name="TextBox 13"/>
          <p:cNvSpPr txBox="1"/>
          <p:nvPr/>
        </p:nvSpPr>
        <p:spPr>
          <a:xfrm>
            <a:off x="5120640" y="4160520"/>
            <a:ext cx="6430975" cy="1463040"/>
          </a:xfrm>
          <a:prstGeom prst="rect">
            <a:avLst/>
          </a:prstGeom>
          <a:noFill/>
        </p:spPr>
        <p:txBody>
          <a:bodyPr wrap="square" anchor="t" lIns="0" rIns="0" tIns="0" bIns="0">
            <a:spAutoFit/>
          </a:bodyPr>
          <a:lstStyle/>
          <a:p>
            <a:pPr algn="l">
              <a:lnSpc>
                <a:spcPct val="130000"/>
              </a:lnSpc>
              <a:spcAft>
                <a:spcPts val="0"/>
              </a:spcAft>
            </a:pPr>
            <a:r>
              <a:rPr sz="1350" b="0" i="0">
                <a:solidFill>
                  <a:srgbClr val="0B142A"/>
                </a:solidFill>
                <a:latin typeface="Helvetica Neue"/>
              </a:rPr>
              <a:t>Enterprise APIs were designed for programs that extract one field and move on. Agents read everything, so response weight becomes a real cost and a real failure mode.</a:t>
            </a:r>
          </a:p>
        </p:txBody>
      </p:sp>
      <p:sp>
        <p:nvSpPr>
          <p:cNvPr id="15" name="TextBox 14"/>
          <p:cNvSpPr txBox="1"/>
          <p:nvPr/>
        </p:nvSpPr>
        <p:spPr>
          <a:xfrm>
            <a:off x="640080" y="6492240"/>
            <a:ext cx="5486400" cy="274320"/>
          </a:xfrm>
          <a:prstGeom prst="rect">
            <a:avLst/>
          </a:prstGeom>
          <a:noFill/>
        </p:spPr>
        <p:txBody>
          <a:bodyPr wrap="square" anchor="t" lIns="0" rIns="0" tIns="0" bIns="0">
            <a:spAutoFit/>
          </a:bodyPr>
          <a:lstStyle/>
          <a:p>
            <a:pPr algn="l">
              <a:lnSpc>
                <a:spcPct val="100000"/>
              </a:lnSpc>
              <a:spcAft>
                <a:spcPts val="0"/>
              </a:spcAft>
            </a:pPr>
            <a:r>
              <a:rPr sz="950" b="0" i="0">
                <a:solidFill>
                  <a:srgbClr val="6B7280"/>
                </a:solidFill>
                <a:latin typeface="Helvetica Neue"/>
              </a:rPr>
              <a:t>Can an AI agent operate an ERP? — July 2026 study</a:t>
            </a:r>
          </a:p>
        </p:txBody>
      </p:sp>
      <p:sp>
        <p:nvSpPr>
          <p:cNvPr id="16" name="TextBox 15"/>
          <p:cNvSpPr txBox="1"/>
          <p:nvPr/>
        </p:nvSpPr>
        <p:spPr>
          <a:xfrm>
            <a:off x="10180015" y="6492240"/>
            <a:ext cx="1371600" cy="274320"/>
          </a:xfrm>
          <a:prstGeom prst="rect">
            <a:avLst/>
          </a:prstGeom>
          <a:noFill/>
        </p:spPr>
        <p:txBody>
          <a:bodyPr wrap="square" anchor="t" lIns="0" rIns="0" tIns="0" bIns="0">
            <a:spAutoFit/>
          </a:bodyPr>
          <a:lstStyle/>
          <a:p>
            <a:pPr algn="r">
              <a:lnSpc>
                <a:spcPct val="100000"/>
              </a:lnSpc>
              <a:spcAft>
                <a:spcPts val="0"/>
              </a:spcAft>
            </a:pPr>
            <a:r>
              <a:rPr sz="950" b="0" i="0">
                <a:solidFill>
                  <a:srgbClr val="6B7280"/>
                </a:solidFill>
                <a:latin typeface="Helvetica Neue"/>
              </a:rPr>
              <a:t>09 / 11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7315200" cy="320040"/>
          </a:xfrm>
          <a:prstGeom prst="rect">
            <a:avLst/>
          </a:prstGeom>
          <a:noFill/>
        </p:spPr>
        <p:txBody>
          <a:bodyPr wrap="square" anchor="t" lIns="0" rIns="0" tIns="0" bIns="0">
            <a:spAutoFit/>
          </a:bodyPr>
          <a:lstStyle/>
          <a:p>
            <a:pPr algn="l">
              <a:lnSpc>
                <a:spcPct val="100000"/>
              </a:lnSpc>
              <a:spcAft>
                <a:spcPts val="0"/>
              </a:spcAft>
            </a:pPr>
            <a:r>
              <a:rPr sz="1250" b="1" i="0">
                <a:solidFill>
                  <a:srgbClr val="0E6B6B"/>
                </a:solidFill>
                <a:latin typeface="Helvetica Neue"/>
              </a:rPr>
              <a:t>FINDING 4</a:t>
            </a:r>
          </a:p>
        </p:txBody>
      </p:sp>
      <p:sp>
        <p:nvSpPr>
          <p:cNvPr id="3" name="TextBox 2"/>
          <p:cNvSpPr txBox="1"/>
          <p:nvPr/>
        </p:nvSpPr>
        <p:spPr>
          <a:xfrm>
            <a:off x="640080" y="749808"/>
            <a:ext cx="10881360" cy="822960"/>
          </a:xfrm>
          <a:prstGeom prst="rect">
            <a:avLst/>
          </a:prstGeom>
          <a:noFill/>
        </p:spPr>
        <p:txBody>
          <a:bodyPr wrap="square" anchor="t" lIns="0" rIns="0" tIns="0" bIns="0">
            <a:spAutoFit/>
          </a:bodyPr>
          <a:lstStyle/>
          <a:p>
            <a:pPr algn="l">
              <a:lnSpc>
                <a:spcPct val="100000"/>
              </a:lnSpc>
              <a:spcAft>
                <a:spcPts val="0"/>
              </a:spcAft>
            </a:pPr>
            <a:r>
              <a:rPr sz="3000" b="1" i="0">
                <a:solidFill>
                  <a:srgbClr val="0B142A"/>
                </a:solidFill>
                <a:latin typeface="Georgia"/>
              </a:rPr>
              <a:t>Error messages are the agent's documentation</a:t>
            </a:r>
          </a:p>
        </p:txBody>
      </p:sp>
      <p:cxnSp>
        <p:nvCxnSpPr>
          <p:cNvPr id="4" name="Connector 3"/>
          <p:cNvCxnSpPr/>
          <p:nvPr/>
        </p:nvCxnSpPr>
        <p:spPr>
          <a:xfrm>
            <a:off x="640080" y="1481328"/>
            <a:ext cx="10911535" cy="0"/>
          </a:xfrm>
          <a:prstGeom prst="line">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828800"/>
            <a:ext cx="10881360" cy="640080"/>
          </a:xfrm>
          <a:prstGeom prst="rect">
            <a:avLst/>
          </a:prstGeom>
          <a:noFill/>
        </p:spPr>
        <p:txBody>
          <a:bodyPr wrap="square" anchor="t" lIns="0" rIns="0" tIns="0" bIns="0">
            <a:spAutoFit/>
          </a:bodyPr>
          <a:lstStyle/>
          <a:p>
            <a:pPr algn="l">
              <a:lnSpc>
                <a:spcPct val="130000"/>
              </a:lnSpc>
              <a:spcAft>
                <a:spcPts val="0"/>
              </a:spcAft>
            </a:pPr>
            <a:r>
              <a:rPr sz="1700" b="0" i="0">
                <a:solidFill>
                  <a:srgbClr val="0B142A"/>
                </a:solidFill>
                <a:latin typeface="Helvetica Neue"/>
              </a:rPr>
              <a:t>The agent never saw SAP documentation, only error responses.</a:t>
            </a:r>
          </a:p>
        </p:txBody>
      </p:sp>
      <p:sp>
        <p:nvSpPr>
          <p:cNvPr id="6" name="Rounded Rectangle 5"/>
          <p:cNvSpPr/>
          <p:nvPr/>
        </p:nvSpPr>
        <p:spPr>
          <a:xfrm>
            <a:off x="640080" y="2651760"/>
            <a:ext cx="5120640" cy="2651760"/>
          </a:xfrm>
          <a:prstGeom prst="roundRect">
            <a:avLst>
              <a:gd name="adj" fmla="val 5000"/>
            </a:avLst>
          </a:prstGeom>
          <a:solidFill>
            <a:srgbClr val="E4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907792"/>
            <a:ext cx="4480560" cy="320040"/>
          </a:xfrm>
          <a:prstGeom prst="rect">
            <a:avLst/>
          </a:prstGeom>
          <a:noFill/>
        </p:spPr>
        <p:txBody>
          <a:bodyPr wrap="square" anchor="t" lIns="0" rIns="0" tIns="0" bIns="0">
            <a:spAutoFit/>
          </a:bodyPr>
          <a:lstStyle/>
          <a:p>
            <a:pPr algn="l">
              <a:lnSpc>
                <a:spcPct val="100000"/>
              </a:lnSpc>
              <a:spcAft>
                <a:spcPts val="0"/>
              </a:spcAft>
            </a:pPr>
            <a:r>
              <a:rPr sz="1300" b="1" i="0">
                <a:solidFill>
                  <a:srgbClr val="0E6B6B"/>
                </a:solidFill>
                <a:latin typeface="Helvetica Neue"/>
              </a:rPr>
              <a:t>Specific error</a:t>
            </a:r>
          </a:p>
        </p:txBody>
      </p:sp>
      <p:sp>
        <p:nvSpPr>
          <p:cNvPr id="8" name="TextBox 7"/>
          <p:cNvSpPr txBox="1"/>
          <p:nvPr/>
        </p:nvSpPr>
        <p:spPr>
          <a:xfrm>
            <a:off x="960120" y="3273552"/>
            <a:ext cx="4480560" cy="777240"/>
          </a:xfrm>
          <a:prstGeom prst="rect">
            <a:avLst/>
          </a:prstGeom>
          <a:noFill/>
        </p:spPr>
        <p:txBody>
          <a:bodyPr wrap="square" anchor="t" lIns="0" rIns="0" tIns="0" bIns="0">
            <a:spAutoFit/>
          </a:bodyPr>
          <a:lstStyle/>
          <a:p>
            <a:pPr algn="l">
              <a:lnSpc>
                <a:spcPct val="130000"/>
              </a:lnSpc>
              <a:spcAft>
                <a:spcPts val="0"/>
              </a:spcAft>
            </a:pPr>
            <a:r>
              <a:rPr sz="1350" b="0" i="1">
                <a:solidFill>
                  <a:srgbClr val="0B142A"/>
                </a:solidFill>
                <a:latin typeface="Helvetica Neue"/>
              </a:rPr>
              <a:t>“Property contains not found in type A_BusinessPartnerType”</a:t>
            </a:r>
          </a:p>
        </p:txBody>
      </p:sp>
      <p:sp>
        <p:nvSpPr>
          <p:cNvPr id="9" name="TextBox 8"/>
          <p:cNvSpPr txBox="1"/>
          <p:nvPr/>
        </p:nvSpPr>
        <p:spPr>
          <a:xfrm>
            <a:off x="960120" y="4251960"/>
            <a:ext cx="4480560" cy="822960"/>
          </a:xfrm>
          <a:prstGeom prst="rect">
            <a:avLst/>
          </a:prstGeom>
          <a:noFill/>
        </p:spPr>
        <p:txBody>
          <a:bodyPr wrap="square" anchor="t" lIns="0" rIns="0" tIns="0" bIns="0">
            <a:spAutoFit/>
          </a:bodyPr>
          <a:lstStyle/>
          <a:p>
            <a:pPr algn="l">
              <a:lnSpc>
                <a:spcPct val="130000"/>
              </a:lnSpc>
              <a:spcAft>
                <a:spcPts val="0"/>
              </a:spcAft>
            </a:pPr>
            <a:r>
              <a:rPr sz="1400" b="1" i="0">
                <a:solidFill>
                  <a:srgbClr val="0B142A"/>
                </a:solidFill>
                <a:latin typeface="Helvetica Neue"/>
              </a:rPr>
              <a:t>Result: the agent corrected course in one turn</a:t>
            </a:r>
          </a:p>
        </p:txBody>
      </p:sp>
      <p:sp>
        <p:nvSpPr>
          <p:cNvPr id="10" name="Rounded Rectangle 9"/>
          <p:cNvSpPr/>
          <p:nvPr/>
        </p:nvSpPr>
        <p:spPr>
          <a:xfrm>
            <a:off x="6400800" y="2651760"/>
            <a:ext cx="5120640" cy="2651760"/>
          </a:xfrm>
          <a:prstGeom prst="roundRect">
            <a:avLst>
              <a:gd name="adj" fmla="val 5000"/>
            </a:avLst>
          </a:prstGeom>
          <a:solidFill>
            <a:srgbClr val="FFFFFF"/>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20840" y="2907792"/>
            <a:ext cx="4480560" cy="320040"/>
          </a:xfrm>
          <a:prstGeom prst="rect">
            <a:avLst/>
          </a:prstGeom>
          <a:noFill/>
        </p:spPr>
        <p:txBody>
          <a:bodyPr wrap="square" anchor="t" lIns="0" rIns="0" tIns="0" bIns="0">
            <a:spAutoFit/>
          </a:bodyPr>
          <a:lstStyle/>
          <a:p>
            <a:pPr algn="l">
              <a:lnSpc>
                <a:spcPct val="100000"/>
              </a:lnSpc>
              <a:spcAft>
                <a:spcPts val="0"/>
              </a:spcAft>
            </a:pPr>
            <a:r>
              <a:rPr sz="1300" b="1" i="0">
                <a:solidFill>
                  <a:srgbClr val="9C3B2E"/>
                </a:solidFill>
                <a:latin typeface="Helvetica Neue"/>
              </a:rPr>
              <a:t>Vague error</a:t>
            </a:r>
          </a:p>
        </p:txBody>
      </p:sp>
      <p:sp>
        <p:nvSpPr>
          <p:cNvPr id="12" name="TextBox 11"/>
          <p:cNvSpPr txBox="1"/>
          <p:nvPr/>
        </p:nvSpPr>
        <p:spPr>
          <a:xfrm>
            <a:off x="6720840" y="3273552"/>
            <a:ext cx="4480560" cy="777240"/>
          </a:xfrm>
          <a:prstGeom prst="rect">
            <a:avLst/>
          </a:prstGeom>
          <a:noFill/>
        </p:spPr>
        <p:txBody>
          <a:bodyPr wrap="square" anchor="t" lIns="0" rIns="0" tIns="0" bIns="0">
            <a:spAutoFit/>
          </a:bodyPr>
          <a:lstStyle/>
          <a:p>
            <a:pPr algn="l">
              <a:lnSpc>
                <a:spcPct val="130000"/>
              </a:lnSpc>
              <a:spcAft>
                <a:spcPts val="0"/>
              </a:spcAft>
            </a:pPr>
            <a:r>
              <a:rPr sz="1350" b="0" i="1">
                <a:solidFill>
                  <a:srgbClr val="0B142A"/>
                </a:solidFill>
                <a:latin typeface="Helvetica Neue"/>
              </a:rPr>
              <a:t>Generic not found or rejected responses with no field level detail</a:t>
            </a:r>
          </a:p>
        </p:txBody>
      </p:sp>
      <p:sp>
        <p:nvSpPr>
          <p:cNvPr id="13" name="TextBox 12"/>
          <p:cNvSpPr txBox="1"/>
          <p:nvPr/>
        </p:nvSpPr>
        <p:spPr>
          <a:xfrm>
            <a:off x="6720840" y="4251960"/>
            <a:ext cx="4480560" cy="822960"/>
          </a:xfrm>
          <a:prstGeom prst="rect">
            <a:avLst/>
          </a:prstGeom>
          <a:noFill/>
        </p:spPr>
        <p:txBody>
          <a:bodyPr wrap="square" anchor="t" lIns="0" rIns="0" tIns="0" bIns="0">
            <a:spAutoFit/>
          </a:bodyPr>
          <a:lstStyle/>
          <a:p>
            <a:pPr algn="l">
              <a:lnSpc>
                <a:spcPct val="130000"/>
              </a:lnSpc>
              <a:spcAft>
                <a:spcPts val="0"/>
              </a:spcAft>
            </a:pPr>
            <a:r>
              <a:rPr sz="1400" b="1" i="0">
                <a:solidFill>
                  <a:srgbClr val="0B142A"/>
                </a:solidFill>
                <a:latin typeface="Helvetica Neue"/>
              </a:rPr>
              <a:t>Result: repeated failing guesses</a:t>
            </a:r>
          </a:p>
        </p:txBody>
      </p:sp>
      <p:sp>
        <p:nvSpPr>
          <p:cNvPr id="14" name="TextBox 13"/>
          <p:cNvSpPr txBox="1"/>
          <p:nvPr/>
        </p:nvSpPr>
        <p:spPr>
          <a:xfrm>
            <a:off x="640080" y="5623560"/>
            <a:ext cx="10881360" cy="640080"/>
          </a:xfrm>
          <a:prstGeom prst="rect">
            <a:avLst/>
          </a:prstGeom>
          <a:noFill/>
        </p:spPr>
        <p:txBody>
          <a:bodyPr wrap="square" anchor="t" lIns="0" rIns="0" tIns="0" bIns="0">
            <a:spAutoFit/>
          </a:bodyPr>
          <a:lstStyle/>
          <a:p>
            <a:pPr algn="l">
              <a:lnSpc>
                <a:spcPct val="130000"/>
              </a:lnSpc>
              <a:spcAft>
                <a:spcPts val="0"/>
              </a:spcAft>
            </a:pPr>
            <a:r>
              <a:rPr sz="1400" b="0" i="1">
                <a:solidFill>
                  <a:srgbClr val="6B7280"/>
                </a:solidFill>
                <a:latin typeface="Helvetica Neue"/>
              </a:rPr>
              <a:t>For API owners preparing for agent traffic, error message quality is no longer a developer nicety, it is the interface.</a:t>
            </a:r>
          </a:p>
        </p:txBody>
      </p:sp>
      <p:sp>
        <p:nvSpPr>
          <p:cNvPr id="15" name="TextBox 14"/>
          <p:cNvSpPr txBox="1"/>
          <p:nvPr/>
        </p:nvSpPr>
        <p:spPr>
          <a:xfrm>
            <a:off x="640080" y="6492240"/>
            <a:ext cx="5486400" cy="274320"/>
          </a:xfrm>
          <a:prstGeom prst="rect">
            <a:avLst/>
          </a:prstGeom>
          <a:noFill/>
        </p:spPr>
        <p:txBody>
          <a:bodyPr wrap="square" anchor="t" lIns="0" rIns="0" tIns="0" bIns="0">
            <a:spAutoFit/>
          </a:bodyPr>
          <a:lstStyle/>
          <a:p>
            <a:pPr algn="l">
              <a:lnSpc>
                <a:spcPct val="100000"/>
              </a:lnSpc>
              <a:spcAft>
                <a:spcPts val="0"/>
              </a:spcAft>
            </a:pPr>
            <a:r>
              <a:rPr sz="950" b="0" i="0">
                <a:solidFill>
                  <a:srgbClr val="6B7280"/>
                </a:solidFill>
                <a:latin typeface="Helvetica Neue"/>
              </a:rPr>
              <a:t>Can an AI agent operate an ERP? — July 2026 study</a:t>
            </a:r>
          </a:p>
        </p:txBody>
      </p:sp>
      <p:sp>
        <p:nvSpPr>
          <p:cNvPr id="16" name="TextBox 15"/>
          <p:cNvSpPr txBox="1"/>
          <p:nvPr/>
        </p:nvSpPr>
        <p:spPr>
          <a:xfrm>
            <a:off x="10180015" y="6492240"/>
            <a:ext cx="1371600" cy="274320"/>
          </a:xfrm>
          <a:prstGeom prst="rect">
            <a:avLst/>
          </a:prstGeom>
          <a:noFill/>
        </p:spPr>
        <p:txBody>
          <a:bodyPr wrap="square" anchor="t" lIns="0" rIns="0" tIns="0" bIns="0">
            <a:spAutoFit/>
          </a:bodyPr>
          <a:lstStyle/>
          <a:p>
            <a:pPr algn="r">
              <a:lnSpc>
                <a:spcPct val="100000"/>
              </a:lnSpc>
              <a:spcAft>
                <a:spcPts val="0"/>
              </a:spcAft>
            </a:pPr>
            <a:r>
              <a:rPr sz="950" b="0" i="0">
                <a:solidFill>
                  <a:srgbClr val="6B7280"/>
                </a:solidFill>
                <a:latin typeface="Helvetica Neue"/>
              </a:rPr>
              <a:t>10 / 11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7315200" cy="320040"/>
          </a:xfrm>
          <a:prstGeom prst="rect">
            <a:avLst/>
          </a:prstGeom>
          <a:noFill/>
        </p:spPr>
        <p:txBody>
          <a:bodyPr wrap="square" anchor="t" lIns="0" rIns="0" tIns="0" bIns="0">
            <a:spAutoFit/>
          </a:bodyPr>
          <a:lstStyle/>
          <a:p>
            <a:pPr algn="l">
              <a:lnSpc>
                <a:spcPct val="100000"/>
              </a:lnSpc>
              <a:spcAft>
                <a:spcPts val="0"/>
              </a:spcAft>
            </a:pPr>
            <a:r>
              <a:rPr sz="1250" b="1" i="0">
                <a:solidFill>
                  <a:srgbClr val="0E6B6B"/>
                </a:solidFill>
                <a:latin typeface="Helvetica Neue"/>
              </a:rPr>
              <a:t>WHAT THIS MEANS</a:t>
            </a:r>
          </a:p>
        </p:txBody>
      </p:sp>
      <p:sp>
        <p:nvSpPr>
          <p:cNvPr id="3" name="TextBox 2"/>
          <p:cNvSpPr txBox="1"/>
          <p:nvPr/>
        </p:nvSpPr>
        <p:spPr>
          <a:xfrm>
            <a:off x="640080" y="749808"/>
            <a:ext cx="10881360" cy="822960"/>
          </a:xfrm>
          <a:prstGeom prst="rect">
            <a:avLst/>
          </a:prstGeom>
          <a:noFill/>
        </p:spPr>
        <p:txBody>
          <a:bodyPr wrap="square" anchor="t" lIns="0" rIns="0" tIns="0" bIns="0">
            <a:spAutoFit/>
          </a:bodyPr>
          <a:lstStyle/>
          <a:p>
            <a:pPr algn="l">
              <a:lnSpc>
                <a:spcPct val="100000"/>
              </a:lnSpc>
              <a:spcAft>
                <a:spcPts val="0"/>
              </a:spcAft>
            </a:pPr>
            <a:r>
              <a:rPr sz="3000" b="1" i="0">
                <a:solidFill>
                  <a:srgbClr val="0B142A"/>
                </a:solidFill>
                <a:latin typeface="Georgia"/>
              </a:rPr>
              <a:t>Three implications, for three audiences</a:t>
            </a:r>
          </a:p>
        </p:txBody>
      </p:sp>
      <p:cxnSp>
        <p:nvCxnSpPr>
          <p:cNvPr id="4" name="Connector 3"/>
          <p:cNvCxnSpPr/>
          <p:nvPr/>
        </p:nvCxnSpPr>
        <p:spPr>
          <a:xfrm>
            <a:off x="640080" y="1481328"/>
            <a:ext cx="10911535" cy="0"/>
          </a:xfrm>
          <a:prstGeom prst="line">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40080" y="1920240"/>
            <a:ext cx="640080" cy="548640"/>
          </a:xfrm>
          <a:prstGeom prst="rect">
            <a:avLst/>
          </a:prstGeom>
          <a:noFill/>
        </p:spPr>
        <p:txBody>
          <a:bodyPr wrap="square" anchor="t" lIns="0" rIns="0" tIns="0" bIns="0">
            <a:spAutoFit/>
          </a:bodyPr>
          <a:lstStyle/>
          <a:p>
            <a:pPr algn="l">
              <a:lnSpc>
                <a:spcPct val="100000"/>
              </a:lnSpc>
              <a:spcAft>
                <a:spcPts val="0"/>
              </a:spcAft>
            </a:pPr>
            <a:r>
              <a:rPr sz="2600" b="1" i="0">
                <a:solidFill>
                  <a:srgbClr val="0E6B6B"/>
                </a:solidFill>
                <a:latin typeface="Georgia"/>
              </a:rPr>
              <a:t>1</a:t>
            </a:r>
          </a:p>
        </p:txBody>
      </p:sp>
      <p:sp>
        <p:nvSpPr>
          <p:cNvPr id="6" name="TextBox 5"/>
          <p:cNvSpPr txBox="1"/>
          <p:nvPr/>
        </p:nvSpPr>
        <p:spPr>
          <a:xfrm>
            <a:off x="1417320" y="1938528"/>
            <a:ext cx="2377440" cy="822960"/>
          </a:xfrm>
          <a:prstGeom prst="rect">
            <a:avLst/>
          </a:prstGeom>
          <a:noFill/>
        </p:spPr>
        <p:txBody>
          <a:bodyPr wrap="square" anchor="t" lIns="0" rIns="0" tIns="0" bIns="0">
            <a:spAutoFit/>
          </a:bodyPr>
          <a:lstStyle/>
          <a:p>
            <a:pPr algn="l">
              <a:lnSpc>
                <a:spcPct val="115000"/>
              </a:lnSpc>
              <a:spcAft>
                <a:spcPts val="0"/>
              </a:spcAft>
            </a:pPr>
            <a:r>
              <a:rPr sz="1550" b="1" i="0">
                <a:solidFill>
                  <a:srgbClr val="0B142A"/>
                </a:solidFill>
                <a:latin typeface="Helvetica Neue"/>
              </a:rPr>
              <a:t>Agent builders</a:t>
            </a:r>
          </a:p>
        </p:txBody>
      </p:sp>
      <p:sp>
        <p:nvSpPr>
          <p:cNvPr id="7" name="TextBox 6"/>
          <p:cNvSpPr txBox="1"/>
          <p:nvPr/>
        </p:nvSpPr>
        <p:spPr>
          <a:xfrm>
            <a:off x="3931920" y="1920240"/>
            <a:ext cx="7680960" cy="1005840"/>
          </a:xfrm>
          <a:prstGeom prst="rect">
            <a:avLst/>
          </a:prstGeom>
          <a:noFill/>
        </p:spPr>
        <p:txBody>
          <a:bodyPr wrap="square" anchor="t" lIns="0" rIns="0" tIns="0" bIns="0">
            <a:spAutoFit/>
          </a:bodyPr>
          <a:lstStyle/>
          <a:p>
            <a:pPr algn="l">
              <a:lnSpc>
                <a:spcPct val="130000"/>
              </a:lnSpc>
              <a:spcAft>
                <a:spcPts val="0"/>
              </a:spcAft>
            </a:pPr>
            <a:r>
              <a:rPr sz="1450" b="0" i="0">
                <a:solidFill>
                  <a:srgbClr val="0B142A"/>
                </a:solidFill>
                <a:latin typeface="Helvetica Neue"/>
              </a:rPr>
              <a:t>Budget for the discovery problem. Agents will need curated tool definitions or metadata access, not raw OData endpoints and optimism.</a:t>
            </a:r>
          </a:p>
        </p:txBody>
      </p:sp>
      <p:cxnSp>
        <p:nvCxnSpPr>
          <p:cNvPr id="8" name="Connector 7"/>
          <p:cNvCxnSpPr/>
          <p:nvPr/>
        </p:nvCxnSpPr>
        <p:spPr>
          <a:xfrm>
            <a:off x="640080" y="3017520"/>
            <a:ext cx="10911535" cy="0"/>
          </a:xfrm>
          <a:prstGeom prst="line">
            <a:avLst/>
          </a:prstGeom>
          <a:ln w="762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40080" y="3154680"/>
            <a:ext cx="640080" cy="548640"/>
          </a:xfrm>
          <a:prstGeom prst="rect">
            <a:avLst/>
          </a:prstGeom>
          <a:noFill/>
        </p:spPr>
        <p:txBody>
          <a:bodyPr wrap="square" anchor="t" lIns="0" rIns="0" tIns="0" bIns="0">
            <a:spAutoFit/>
          </a:bodyPr>
          <a:lstStyle/>
          <a:p>
            <a:pPr algn="l">
              <a:lnSpc>
                <a:spcPct val="100000"/>
              </a:lnSpc>
              <a:spcAft>
                <a:spcPts val="0"/>
              </a:spcAft>
            </a:pPr>
            <a:r>
              <a:rPr sz="2600" b="1" i="0">
                <a:solidFill>
                  <a:srgbClr val="0E6B6B"/>
                </a:solidFill>
                <a:latin typeface="Georgia"/>
              </a:rPr>
              <a:t>2</a:t>
            </a:r>
          </a:p>
        </p:txBody>
      </p:sp>
      <p:sp>
        <p:nvSpPr>
          <p:cNvPr id="10" name="TextBox 9"/>
          <p:cNvSpPr txBox="1"/>
          <p:nvPr/>
        </p:nvSpPr>
        <p:spPr>
          <a:xfrm>
            <a:off x="1417320" y="3172968"/>
            <a:ext cx="2377440" cy="822960"/>
          </a:xfrm>
          <a:prstGeom prst="rect">
            <a:avLst/>
          </a:prstGeom>
          <a:noFill/>
        </p:spPr>
        <p:txBody>
          <a:bodyPr wrap="square" anchor="t" lIns="0" rIns="0" tIns="0" bIns="0">
            <a:spAutoFit/>
          </a:bodyPr>
          <a:lstStyle/>
          <a:p>
            <a:pPr algn="l">
              <a:lnSpc>
                <a:spcPct val="115000"/>
              </a:lnSpc>
              <a:spcAft>
                <a:spcPts val="0"/>
              </a:spcAft>
            </a:pPr>
            <a:r>
              <a:rPr sz="1550" b="1" i="0">
                <a:solidFill>
                  <a:srgbClr val="0B142A"/>
                </a:solidFill>
                <a:latin typeface="Helvetica Neue"/>
              </a:rPr>
              <a:t>Buyers</a:t>
            </a:r>
          </a:p>
        </p:txBody>
      </p:sp>
      <p:sp>
        <p:nvSpPr>
          <p:cNvPr id="11" name="TextBox 10"/>
          <p:cNvSpPr txBox="1"/>
          <p:nvPr/>
        </p:nvSpPr>
        <p:spPr>
          <a:xfrm>
            <a:off x="3931920" y="3154680"/>
            <a:ext cx="7680960" cy="1005840"/>
          </a:xfrm>
          <a:prstGeom prst="rect">
            <a:avLst/>
          </a:prstGeom>
          <a:noFill/>
        </p:spPr>
        <p:txBody>
          <a:bodyPr wrap="square" anchor="t" lIns="0" rIns="0" tIns="0" bIns="0">
            <a:spAutoFit/>
          </a:bodyPr>
          <a:lstStyle/>
          <a:p>
            <a:pPr algn="l">
              <a:lnSpc>
                <a:spcPct val="130000"/>
              </a:lnSpc>
              <a:spcAft>
                <a:spcPts val="0"/>
              </a:spcAft>
            </a:pPr>
            <a:r>
              <a:rPr sz="1450" b="0" i="0">
                <a:solidFill>
                  <a:srgbClr val="0B142A"/>
                </a:solidFill>
                <a:latin typeface="Helvetica Neue"/>
              </a:rPr>
              <a:t>Ask vendors whether their SAP agent integration reads, writes, or both, and where the write path was actually tested.</a:t>
            </a:r>
          </a:p>
        </p:txBody>
      </p:sp>
      <p:cxnSp>
        <p:nvCxnSpPr>
          <p:cNvPr id="12" name="Connector 11"/>
          <p:cNvCxnSpPr/>
          <p:nvPr/>
        </p:nvCxnSpPr>
        <p:spPr>
          <a:xfrm>
            <a:off x="640080" y="4251960"/>
            <a:ext cx="10911535" cy="0"/>
          </a:xfrm>
          <a:prstGeom prst="line">
            <a:avLst/>
          </a:prstGeom>
          <a:ln w="762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40080" y="4389120"/>
            <a:ext cx="640080" cy="548640"/>
          </a:xfrm>
          <a:prstGeom prst="rect">
            <a:avLst/>
          </a:prstGeom>
          <a:noFill/>
        </p:spPr>
        <p:txBody>
          <a:bodyPr wrap="square" anchor="t" lIns="0" rIns="0" tIns="0" bIns="0">
            <a:spAutoFit/>
          </a:bodyPr>
          <a:lstStyle/>
          <a:p>
            <a:pPr algn="l">
              <a:lnSpc>
                <a:spcPct val="100000"/>
              </a:lnSpc>
              <a:spcAft>
                <a:spcPts val="0"/>
              </a:spcAft>
            </a:pPr>
            <a:r>
              <a:rPr sz="2600" b="1" i="0">
                <a:solidFill>
                  <a:srgbClr val="0E6B6B"/>
                </a:solidFill>
                <a:latin typeface="Georgia"/>
              </a:rPr>
              <a:t>3</a:t>
            </a:r>
          </a:p>
        </p:txBody>
      </p:sp>
      <p:sp>
        <p:nvSpPr>
          <p:cNvPr id="14" name="TextBox 13"/>
          <p:cNvSpPr txBox="1"/>
          <p:nvPr/>
        </p:nvSpPr>
        <p:spPr>
          <a:xfrm>
            <a:off x="1417320" y="4407408"/>
            <a:ext cx="2377440" cy="822960"/>
          </a:xfrm>
          <a:prstGeom prst="rect">
            <a:avLst/>
          </a:prstGeom>
          <a:noFill/>
        </p:spPr>
        <p:txBody>
          <a:bodyPr wrap="square" anchor="t" lIns="0" rIns="0" tIns="0" bIns="0">
            <a:spAutoFit/>
          </a:bodyPr>
          <a:lstStyle/>
          <a:p>
            <a:pPr algn="l">
              <a:lnSpc>
                <a:spcPct val="115000"/>
              </a:lnSpc>
              <a:spcAft>
                <a:spcPts val="0"/>
              </a:spcAft>
            </a:pPr>
            <a:r>
              <a:rPr sz="1550" b="1" i="0">
                <a:solidFill>
                  <a:srgbClr val="0B142A"/>
                </a:solidFill>
                <a:latin typeface="Helvetica Neue"/>
              </a:rPr>
              <a:t>Platform owners</a:t>
            </a:r>
          </a:p>
        </p:txBody>
      </p:sp>
      <p:sp>
        <p:nvSpPr>
          <p:cNvPr id="15" name="TextBox 14"/>
          <p:cNvSpPr txBox="1"/>
          <p:nvPr/>
        </p:nvSpPr>
        <p:spPr>
          <a:xfrm>
            <a:off x="3931920" y="4389120"/>
            <a:ext cx="7680960" cy="1005840"/>
          </a:xfrm>
          <a:prstGeom prst="rect">
            <a:avLst/>
          </a:prstGeom>
          <a:noFill/>
        </p:spPr>
        <p:txBody>
          <a:bodyPr wrap="square" anchor="t" lIns="0" rIns="0" tIns="0" bIns="0">
            <a:spAutoFit/>
          </a:bodyPr>
          <a:lstStyle/>
          <a:p>
            <a:pPr algn="l">
              <a:lnSpc>
                <a:spcPct val="130000"/>
              </a:lnSpc>
              <a:spcAft>
                <a:spcPts val="0"/>
              </a:spcAft>
            </a:pPr>
            <a:r>
              <a:rPr sz="1450" b="0" i="0">
                <a:solidFill>
                  <a:srgbClr val="0B142A"/>
                </a:solidFill>
                <a:latin typeface="Helvetica Neue"/>
              </a:rPr>
              <a:t>The levers that decide agent success are unglamorous, lean responses, precise errors, and discoverable metadata.</a:t>
            </a:r>
          </a:p>
        </p:txBody>
      </p:sp>
      <p:sp>
        <p:nvSpPr>
          <p:cNvPr id="16" name="Rounded Rectangle 15"/>
          <p:cNvSpPr/>
          <p:nvPr/>
        </p:nvSpPr>
        <p:spPr>
          <a:xfrm>
            <a:off x="640080" y="5623560"/>
            <a:ext cx="10911535" cy="685800"/>
          </a:xfrm>
          <a:prstGeom prst="roundRect">
            <a:avLst>
              <a:gd name="adj" fmla="val 12000"/>
            </a:avLst>
          </a:prstGeom>
          <a:solidFill>
            <a:srgbClr val="E4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5806440"/>
            <a:ext cx="10058400" cy="365760"/>
          </a:xfrm>
          <a:prstGeom prst="rect">
            <a:avLst/>
          </a:prstGeom>
          <a:noFill/>
        </p:spPr>
        <p:txBody>
          <a:bodyPr wrap="square" anchor="ctr" lIns="0" rIns="0" tIns="0" bIns="0">
            <a:spAutoFit/>
          </a:bodyPr>
          <a:lstStyle/>
          <a:p>
            <a:pPr algn="l">
              <a:lnSpc>
                <a:spcPct val="100000"/>
              </a:lnSpc>
              <a:spcAft>
                <a:spcPts val="0"/>
              </a:spcAft>
            </a:pPr>
            <a:r>
              <a:rPr sz="1500" b="1" i="0">
                <a:solidFill>
                  <a:srgbClr val="0B142A"/>
                </a:solidFill>
                <a:latin typeface="Helvetica Neue"/>
              </a:rPr>
              <a:t>github.com/asish-singh/agentic-erp-demo</a:t>
            </a:r>
          </a:p>
        </p:txBody>
      </p:sp>
      <p:sp>
        <p:nvSpPr>
          <p:cNvPr id="18" name="TextBox 17"/>
          <p:cNvSpPr txBox="1"/>
          <p:nvPr/>
        </p:nvSpPr>
        <p:spPr>
          <a:xfrm>
            <a:off x="640080" y="6492240"/>
            <a:ext cx="5486400" cy="274320"/>
          </a:xfrm>
          <a:prstGeom prst="rect">
            <a:avLst/>
          </a:prstGeom>
          <a:noFill/>
        </p:spPr>
        <p:txBody>
          <a:bodyPr wrap="square" anchor="t" lIns="0" rIns="0" tIns="0" bIns="0">
            <a:spAutoFit/>
          </a:bodyPr>
          <a:lstStyle/>
          <a:p>
            <a:pPr algn="l">
              <a:lnSpc>
                <a:spcPct val="100000"/>
              </a:lnSpc>
              <a:spcAft>
                <a:spcPts val="0"/>
              </a:spcAft>
            </a:pPr>
            <a:r>
              <a:rPr sz="950" b="0" i="0">
                <a:solidFill>
                  <a:srgbClr val="6B7280"/>
                </a:solidFill>
                <a:latin typeface="Helvetica Neue"/>
              </a:rPr>
              <a:t>Can an AI agent operate an ERP? — July 2026 study</a:t>
            </a:r>
          </a:p>
        </p:txBody>
      </p:sp>
      <p:sp>
        <p:nvSpPr>
          <p:cNvPr id="19" name="TextBox 18"/>
          <p:cNvSpPr txBox="1"/>
          <p:nvPr/>
        </p:nvSpPr>
        <p:spPr>
          <a:xfrm>
            <a:off x="10180015" y="6492240"/>
            <a:ext cx="1371600" cy="274320"/>
          </a:xfrm>
          <a:prstGeom prst="rect">
            <a:avLst/>
          </a:prstGeom>
          <a:noFill/>
        </p:spPr>
        <p:txBody>
          <a:bodyPr wrap="square" anchor="t" lIns="0" rIns="0" tIns="0" bIns="0">
            <a:spAutoFit/>
          </a:bodyPr>
          <a:lstStyle/>
          <a:p>
            <a:pPr algn="r">
              <a:lnSpc>
                <a:spcPct val="100000"/>
              </a:lnSpc>
              <a:spcAft>
                <a:spcPts val="0"/>
              </a:spcAft>
            </a:pPr>
            <a:r>
              <a:rPr sz="950" b="0" i="0">
                <a:solidFill>
                  <a:srgbClr val="6B7280"/>
                </a:solidFill>
                <a:latin typeface="Helvetica Neue"/>
              </a:rPr>
              <a:t>11 / 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